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60" r:id="rId3"/>
    <p:sldId id="261" r:id="rId4"/>
    <p:sldId id="291" r:id="rId5"/>
    <p:sldId id="294" r:id="rId6"/>
    <p:sldId id="295" r:id="rId7"/>
    <p:sldId id="292" r:id="rId8"/>
    <p:sldId id="293" r:id="rId9"/>
    <p:sldId id="296" r:id="rId10"/>
    <p:sldId id="297" r:id="rId11"/>
    <p:sldId id="298" r:id="rId12"/>
    <p:sldId id="299" r:id="rId13"/>
    <p:sldId id="265" r:id="rId14"/>
    <p:sldId id="300" r:id="rId15"/>
    <p:sldId id="301" r:id="rId16"/>
  </p:sldIdLst>
  <p:sldSz cx="9144000" cy="5143500" type="screen16x9"/>
  <p:notesSz cx="6858000" cy="9144000"/>
  <p:embeddedFontLst>
    <p:embeddedFont>
      <p:font typeface="Arimo" panose="020B0604020202020204" charset="0"/>
      <p:regular r:id="rId18"/>
      <p:bold r:id="rId19"/>
      <p:italic r:id="rId20"/>
      <p:boldItalic r:id="rId21"/>
    </p:embeddedFont>
    <p:embeddedFont>
      <p:font typeface="Bebas Neue" panose="020B0606020202050201" pitchFamily="34" charset="0"/>
      <p:regular r:id="rId22"/>
    </p:embeddedFont>
    <p:embeddedFont>
      <p:font typeface="Nunito Light" pitchFamily="2" charset="0"/>
      <p:regular r:id="rId23"/>
      <p: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9DAFB3-B416-4B01-9E56-5B183FE8D6C3}">
  <a:tblStyle styleId="{319DAFB3-B416-4B01-9E56-5B183FE8D6C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85" name="Google Shape;8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27ee146c3c_0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63" name="Google Shape;263;g227ee146c3c_0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27ee146c3c_0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51" name="Google Shape;351;g227ee146c3c_0_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>
          <a:extLst>
            <a:ext uri="{FF2B5EF4-FFF2-40B4-BE49-F238E27FC236}">
              <a16:creationId xmlns:a16="http://schemas.microsoft.com/office/drawing/2014/main" id="{475F68C6-6AA7-89E1-D014-21EEF75B9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27ee146c3c_0_303:notes">
            <a:extLst>
              <a:ext uri="{FF2B5EF4-FFF2-40B4-BE49-F238E27FC236}">
                <a16:creationId xmlns:a16="http://schemas.microsoft.com/office/drawing/2014/main" id="{190BB9EA-1850-24F8-C0C2-DA94098DB7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51" name="Google Shape;351;g227ee146c3c_0_303:notes">
            <a:extLst>
              <a:ext uri="{FF2B5EF4-FFF2-40B4-BE49-F238E27FC236}">
                <a16:creationId xmlns:a16="http://schemas.microsoft.com/office/drawing/2014/main" id="{B18B5543-E204-0C78-A060-6192AAA7C0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35489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>
          <a:extLst>
            <a:ext uri="{FF2B5EF4-FFF2-40B4-BE49-F238E27FC236}">
              <a16:creationId xmlns:a16="http://schemas.microsoft.com/office/drawing/2014/main" id="{91C7E24A-B5D0-D423-816D-DA6BC2A13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27ee146c3c_0_303:notes">
            <a:extLst>
              <a:ext uri="{FF2B5EF4-FFF2-40B4-BE49-F238E27FC236}">
                <a16:creationId xmlns:a16="http://schemas.microsoft.com/office/drawing/2014/main" id="{F9468755-583A-6AED-039B-CD364C3D94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51" name="Google Shape;351;g227ee146c3c_0_303:notes">
            <a:extLst>
              <a:ext uri="{FF2B5EF4-FFF2-40B4-BE49-F238E27FC236}">
                <a16:creationId xmlns:a16="http://schemas.microsoft.com/office/drawing/2014/main" id="{729FACB3-6B39-80B4-7E28-97F5A57C01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14804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>
          <a:extLst>
            <a:ext uri="{FF2B5EF4-FFF2-40B4-BE49-F238E27FC236}">
              <a16:creationId xmlns:a16="http://schemas.microsoft.com/office/drawing/2014/main" id="{1A71133B-4432-28DF-26A8-CB24F2993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27ee146c3c_0_303:notes">
            <a:extLst>
              <a:ext uri="{FF2B5EF4-FFF2-40B4-BE49-F238E27FC236}">
                <a16:creationId xmlns:a16="http://schemas.microsoft.com/office/drawing/2014/main" id="{D40571FE-6A9D-795A-04A9-5A4FCE11F7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51" name="Google Shape;351;g227ee146c3c_0_303:notes">
            <a:extLst>
              <a:ext uri="{FF2B5EF4-FFF2-40B4-BE49-F238E27FC236}">
                <a16:creationId xmlns:a16="http://schemas.microsoft.com/office/drawing/2014/main" id="{4B099917-C372-AC6F-464A-D3F71D8EC9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46987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>
          <a:extLst>
            <a:ext uri="{FF2B5EF4-FFF2-40B4-BE49-F238E27FC236}">
              <a16:creationId xmlns:a16="http://schemas.microsoft.com/office/drawing/2014/main" id="{B0B7AFA5-1C76-8073-F56F-0FD4A35DB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27ee146c3c_0_303:notes">
            <a:extLst>
              <a:ext uri="{FF2B5EF4-FFF2-40B4-BE49-F238E27FC236}">
                <a16:creationId xmlns:a16="http://schemas.microsoft.com/office/drawing/2014/main" id="{2A6403C5-0945-D999-6220-F2FD754659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51" name="Google Shape;351;g227ee146c3c_0_303:notes">
            <a:extLst>
              <a:ext uri="{FF2B5EF4-FFF2-40B4-BE49-F238E27FC236}">
                <a16:creationId xmlns:a16="http://schemas.microsoft.com/office/drawing/2014/main" id="{62D16728-DF52-FE48-B717-B980BEA5E5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9278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>
          <a:extLst>
            <a:ext uri="{FF2B5EF4-FFF2-40B4-BE49-F238E27FC236}">
              <a16:creationId xmlns:a16="http://schemas.microsoft.com/office/drawing/2014/main" id="{539FBD32-8227-A2D6-FC5A-D19942DA3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27ee146c3c_0_303:notes">
            <a:extLst>
              <a:ext uri="{FF2B5EF4-FFF2-40B4-BE49-F238E27FC236}">
                <a16:creationId xmlns:a16="http://schemas.microsoft.com/office/drawing/2014/main" id="{83C955AD-FCDD-8609-983F-6B2520DB04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51" name="Google Shape;351;g227ee146c3c_0_303:notes">
            <a:extLst>
              <a:ext uri="{FF2B5EF4-FFF2-40B4-BE49-F238E27FC236}">
                <a16:creationId xmlns:a16="http://schemas.microsoft.com/office/drawing/2014/main" id="{7FCA31E1-1228-B751-FAD0-5725E07224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20634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>
          <a:extLst>
            <a:ext uri="{FF2B5EF4-FFF2-40B4-BE49-F238E27FC236}">
              <a16:creationId xmlns:a16="http://schemas.microsoft.com/office/drawing/2014/main" id="{F65F2E3A-4EFF-EBDF-5D8E-289959EB4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27ee146c3c_0_303:notes">
            <a:extLst>
              <a:ext uri="{FF2B5EF4-FFF2-40B4-BE49-F238E27FC236}">
                <a16:creationId xmlns:a16="http://schemas.microsoft.com/office/drawing/2014/main" id="{1D245370-845B-AF3B-E567-8B94267C2E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51" name="Google Shape;351;g227ee146c3c_0_303:notes">
            <a:extLst>
              <a:ext uri="{FF2B5EF4-FFF2-40B4-BE49-F238E27FC236}">
                <a16:creationId xmlns:a16="http://schemas.microsoft.com/office/drawing/2014/main" id="{EA2F8592-D788-031D-A682-4A29D6C67A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39141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>
          <a:extLst>
            <a:ext uri="{FF2B5EF4-FFF2-40B4-BE49-F238E27FC236}">
              <a16:creationId xmlns:a16="http://schemas.microsoft.com/office/drawing/2014/main" id="{6B0B1824-E8DF-0B12-0C30-2184C29B8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27ee146c3c_0_303:notes">
            <a:extLst>
              <a:ext uri="{FF2B5EF4-FFF2-40B4-BE49-F238E27FC236}">
                <a16:creationId xmlns:a16="http://schemas.microsoft.com/office/drawing/2014/main" id="{1A657CA8-0773-F647-CB1C-1CDC68C2EE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51" name="Google Shape;351;g227ee146c3c_0_303:notes">
            <a:extLst>
              <a:ext uri="{FF2B5EF4-FFF2-40B4-BE49-F238E27FC236}">
                <a16:creationId xmlns:a16="http://schemas.microsoft.com/office/drawing/2014/main" id="{84D57021-710E-DEDA-AE1A-446465EACB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24501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>
          <a:extLst>
            <a:ext uri="{FF2B5EF4-FFF2-40B4-BE49-F238E27FC236}">
              <a16:creationId xmlns:a16="http://schemas.microsoft.com/office/drawing/2014/main" id="{916C3C0C-34DF-64AA-0865-CB09250C9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27ee146c3c_0_303:notes">
            <a:extLst>
              <a:ext uri="{FF2B5EF4-FFF2-40B4-BE49-F238E27FC236}">
                <a16:creationId xmlns:a16="http://schemas.microsoft.com/office/drawing/2014/main" id="{3419A3DF-06A1-6539-DE51-CB61F01191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51" name="Google Shape;351;g227ee146c3c_0_303:notes">
            <a:extLst>
              <a:ext uri="{FF2B5EF4-FFF2-40B4-BE49-F238E27FC236}">
                <a16:creationId xmlns:a16="http://schemas.microsoft.com/office/drawing/2014/main" id="{34FF66E1-3D80-1861-0D81-70209AF499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28775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>
          <a:extLst>
            <a:ext uri="{FF2B5EF4-FFF2-40B4-BE49-F238E27FC236}">
              <a16:creationId xmlns:a16="http://schemas.microsoft.com/office/drawing/2014/main" id="{40914E4F-C590-DEDE-134B-495B5BF2B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27ee146c3c_0_303:notes">
            <a:extLst>
              <a:ext uri="{FF2B5EF4-FFF2-40B4-BE49-F238E27FC236}">
                <a16:creationId xmlns:a16="http://schemas.microsoft.com/office/drawing/2014/main" id="{DDD46E77-C0E2-E004-6FDB-8280469FD6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51" name="Google Shape;351;g227ee146c3c_0_303:notes">
            <a:extLst>
              <a:ext uri="{FF2B5EF4-FFF2-40B4-BE49-F238E27FC236}">
                <a16:creationId xmlns:a16="http://schemas.microsoft.com/office/drawing/2014/main" id="{7D1BED6D-B034-B483-B9BF-EBDBFD4AE1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70992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2289c41b309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73" name="Google Shape;573;g2289c41b309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>
          <a:extLst>
            <a:ext uri="{FF2B5EF4-FFF2-40B4-BE49-F238E27FC236}">
              <a16:creationId xmlns:a16="http://schemas.microsoft.com/office/drawing/2014/main" id="{A2159B63-C4C6-F83E-7D0F-57F9A7B6F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2289c41b309_0_80:notes">
            <a:extLst>
              <a:ext uri="{FF2B5EF4-FFF2-40B4-BE49-F238E27FC236}">
                <a16:creationId xmlns:a16="http://schemas.microsoft.com/office/drawing/2014/main" id="{140C419D-AE38-F811-9001-0F3498C5F6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73" name="Google Shape;573;g2289c41b309_0_80:notes">
            <a:extLst>
              <a:ext uri="{FF2B5EF4-FFF2-40B4-BE49-F238E27FC236}">
                <a16:creationId xmlns:a16="http://schemas.microsoft.com/office/drawing/2014/main" id="{CBA4DC66-EC58-61E2-9002-92099ECEB7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23697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>
          <a:extLst>
            <a:ext uri="{FF2B5EF4-FFF2-40B4-BE49-F238E27FC236}">
              <a16:creationId xmlns:a16="http://schemas.microsoft.com/office/drawing/2014/main" id="{817A40EB-D9E2-BD35-D62F-F5552C55C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2289c41b309_0_80:notes">
            <a:extLst>
              <a:ext uri="{FF2B5EF4-FFF2-40B4-BE49-F238E27FC236}">
                <a16:creationId xmlns:a16="http://schemas.microsoft.com/office/drawing/2014/main" id="{CBDF74F7-1D7F-DD42-23FF-8DE3B64889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73" name="Google Shape;573;g2289c41b309_0_80:notes">
            <a:extLst>
              <a:ext uri="{FF2B5EF4-FFF2-40B4-BE49-F238E27FC236}">
                <a16:creationId xmlns:a16="http://schemas.microsoft.com/office/drawing/2014/main" id="{4368BBD6-8251-C223-E041-15FF62022D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1134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002350" y="1025375"/>
            <a:ext cx="5139300" cy="25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338300" y="3621525"/>
            <a:ext cx="4528800" cy="411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2"/>
          </p:nvPr>
        </p:nvSpPr>
        <p:spPr>
          <a:xfrm>
            <a:off x="926525" y="232275"/>
            <a:ext cx="555000" cy="21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Bebas Neue"/>
              <a:buNone/>
              <a:defRPr sz="1000"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3"/>
          </p:nvPr>
        </p:nvSpPr>
        <p:spPr>
          <a:xfrm>
            <a:off x="1591406" y="232275"/>
            <a:ext cx="555000" cy="21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Bebas Neue"/>
              <a:buNone/>
              <a:defRPr sz="1000"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4"/>
          </p:nvPr>
        </p:nvSpPr>
        <p:spPr>
          <a:xfrm>
            <a:off x="2256288" y="232275"/>
            <a:ext cx="555000" cy="21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Bebas Neue"/>
              <a:buNone/>
              <a:defRPr sz="1000"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5"/>
          </p:nvPr>
        </p:nvSpPr>
        <p:spPr>
          <a:xfrm>
            <a:off x="7059175" y="186525"/>
            <a:ext cx="1371600" cy="30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000"/>
              <a:buFont typeface="Bebas Neue"/>
              <a:buNone/>
              <a:defRPr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5" name="Google Shape;15;p2"/>
          <p:cNvCxnSpPr/>
          <p:nvPr/>
        </p:nvCxnSpPr>
        <p:spPr>
          <a:xfrm>
            <a:off x="706050" y="539450"/>
            <a:ext cx="773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16;p2"/>
          <p:cNvCxnSpPr/>
          <p:nvPr/>
        </p:nvCxnSpPr>
        <p:spPr>
          <a:xfrm>
            <a:off x="706050" y="4604450"/>
            <a:ext cx="773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2380400" y="1273525"/>
            <a:ext cx="4445400" cy="174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2431100" y="3530450"/>
            <a:ext cx="4580400" cy="411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2" hasCustomPrompt="1"/>
          </p:nvPr>
        </p:nvSpPr>
        <p:spPr>
          <a:xfrm>
            <a:off x="714300" y="1764027"/>
            <a:ext cx="1367400" cy="75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7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3"/>
          </p:nvPr>
        </p:nvSpPr>
        <p:spPr>
          <a:xfrm>
            <a:off x="926525" y="232275"/>
            <a:ext cx="555000" cy="21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Bebas Neue"/>
              <a:buNone/>
              <a:defRPr sz="1000"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4"/>
          </p:nvPr>
        </p:nvSpPr>
        <p:spPr>
          <a:xfrm>
            <a:off x="1591406" y="232275"/>
            <a:ext cx="555000" cy="21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Bebas Neue"/>
              <a:buNone/>
              <a:defRPr sz="1000"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5"/>
          </p:nvPr>
        </p:nvSpPr>
        <p:spPr>
          <a:xfrm>
            <a:off x="2256288" y="232275"/>
            <a:ext cx="555000" cy="21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Bebas Neue"/>
              <a:buNone/>
              <a:defRPr sz="1000"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6"/>
          </p:nvPr>
        </p:nvSpPr>
        <p:spPr>
          <a:xfrm>
            <a:off x="7059175" y="186525"/>
            <a:ext cx="1371600" cy="30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000"/>
              <a:buFont typeface="Bebas Neue"/>
              <a:buNone/>
              <a:defRPr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5" name="Google Shape;25;p3"/>
          <p:cNvCxnSpPr/>
          <p:nvPr/>
        </p:nvCxnSpPr>
        <p:spPr>
          <a:xfrm>
            <a:off x="706050" y="539450"/>
            <a:ext cx="773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" name="Google Shape;26;p3"/>
          <p:cNvCxnSpPr/>
          <p:nvPr/>
        </p:nvCxnSpPr>
        <p:spPr>
          <a:xfrm>
            <a:off x="706050" y="4604450"/>
            <a:ext cx="773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20000" y="5394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1"/>
          </p:nvPr>
        </p:nvSpPr>
        <p:spPr>
          <a:xfrm>
            <a:off x="5055284" y="3608749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2"/>
          </p:nvPr>
        </p:nvSpPr>
        <p:spPr>
          <a:xfrm>
            <a:off x="1583300" y="3608749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3"/>
          </p:nvPr>
        </p:nvSpPr>
        <p:spPr>
          <a:xfrm>
            <a:off x="5055275" y="330072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Bebas Neue"/>
              <a:buNone/>
              <a:defRPr sz="27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Bebas Neue"/>
              <a:buNone/>
              <a:defRPr sz="27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Bebas Neue"/>
              <a:buNone/>
              <a:defRPr sz="27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Bebas Neue"/>
              <a:buNone/>
              <a:defRPr sz="27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Bebas Neue"/>
              <a:buNone/>
              <a:defRPr sz="27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Bebas Neue"/>
              <a:buNone/>
              <a:defRPr sz="27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Bebas Neue"/>
              <a:buNone/>
              <a:defRPr sz="27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Bebas Neue"/>
              <a:buNone/>
              <a:defRPr sz="27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Bebas Neue"/>
              <a:buNone/>
              <a:defRPr sz="27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4"/>
          </p:nvPr>
        </p:nvSpPr>
        <p:spPr>
          <a:xfrm>
            <a:off x="1583300" y="330072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Bebas Neue"/>
              <a:buNone/>
              <a:defRPr sz="27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Bebas Neue"/>
              <a:buNone/>
              <a:defRPr sz="27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Bebas Neue"/>
              <a:buNone/>
              <a:defRPr sz="27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Bebas Neue"/>
              <a:buNone/>
              <a:defRPr sz="27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Bebas Neue"/>
              <a:buNone/>
              <a:defRPr sz="27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Bebas Neue"/>
              <a:buNone/>
              <a:defRPr sz="27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Bebas Neue"/>
              <a:buNone/>
              <a:defRPr sz="27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Bebas Neue"/>
              <a:buNone/>
              <a:defRPr sz="27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Bebas Neue"/>
              <a:buNone/>
              <a:defRPr sz="27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cxnSp>
        <p:nvCxnSpPr>
          <p:cNvPr id="38" name="Google Shape;38;p5"/>
          <p:cNvCxnSpPr/>
          <p:nvPr/>
        </p:nvCxnSpPr>
        <p:spPr>
          <a:xfrm>
            <a:off x="706050" y="539450"/>
            <a:ext cx="773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" name="Google Shape;39;p5"/>
          <p:cNvCxnSpPr/>
          <p:nvPr/>
        </p:nvCxnSpPr>
        <p:spPr>
          <a:xfrm>
            <a:off x="706050" y="4604450"/>
            <a:ext cx="773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720000" y="5394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cxnSp>
        <p:nvCxnSpPr>
          <p:cNvPr id="42" name="Google Shape;42;p6"/>
          <p:cNvCxnSpPr/>
          <p:nvPr/>
        </p:nvCxnSpPr>
        <p:spPr>
          <a:xfrm>
            <a:off x="706050" y="539450"/>
            <a:ext cx="773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" name="Google Shape;43;p6"/>
          <p:cNvCxnSpPr/>
          <p:nvPr/>
        </p:nvCxnSpPr>
        <p:spPr>
          <a:xfrm>
            <a:off x="706050" y="4604450"/>
            <a:ext cx="773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720000" y="53945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subTitle" idx="1"/>
          </p:nvPr>
        </p:nvSpPr>
        <p:spPr>
          <a:xfrm>
            <a:off x="720000" y="1541950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cxnSp>
        <p:nvCxnSpPr>
          <p:cNvPr id="47" name="Google Shape;47;p7"/>
          <p:cNvCxnSpPr/>
          <p:nvPr/>
        </p:nvCxnSpPr>
        <p:spPr>
          <a:xfrm>
            <a:off x="706050" y="539450"/>
            <a:ext cx="773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" name="Google Shape;48;p7"/>
          <p:cNvCxnSpPr/>
          <p:nvPr/>
        </p:nvCxnSpPr>
        <p:spPr>
          <a:xfrm>
            <a:off x="706050" y="4604450"/>
            <a:ext cx="773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1969250" y="2047600"/>
            <a:ext cx="5205300" cy="10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subTitle" idx="1"/>
          </p:nvPr>
        </p:nvSpPr>
        <p:spPr>
          <a:xfrm>
            <a:off x="926525" y="232275"/>
            <a:ext cx="555000" cy="21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Bebas Neue"/>
              <a:buNone/>
              <a:defRPr sz="1000"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subTitle" idx="2"/>
          </p:nvPr>
        </p:nvSpPr>
        <p:spPr>
          <a:xfrm>
            <a:off x="1591406" y="232275"/>
            <a:ext cx="555000" cy="21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Bebas Neue"/>
              <a:buNone/>
              <a:defRPr sz="1000"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ubTitle" idx="3"/>
          </p:nvPr>
        </p:nvSpPr>
        <p:spPr>
          <a:xfrm>
            <a:off x="2256288" y="232275"/>
            <a:ext cx="555000" cy="21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Bebas Neue"/>
              <a:buNone/>
              <a:defRPr sz="1000"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subTitle" idx="4"/>
          </p:nvPr>
        </p:nvSpPr>
        <p:spPr>
          <a:xfrm>
            <a:off x="7059175" y="186525"/>
            <a:ext cx="1371600" cy="30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000"/>
              <a:buFont typeface="Bebas Neue"/>
              <a:buNone/>
              <a:defRPr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55" name="Google Shape;55;p8"/>
          <p:cNvCxnSpPr/>
          <p:nvPr/>
        </p:nvCxnSpPr>
        <p:spPr>
          <a:xfrm>
            <a:off x="706050" y="539450"/>
            <a:ext cx="773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" name="Google Shape;56;p8"/>
          <p:cNvCxnSpPr/>
          <p:nvPr/>
        </p:nvCxnSpPr>
        <p:spPr>
          <a:xfrm>
            <a:off x="706050" y="4604450"/>
            <a:ext cx="773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2135550" y="1673950"/>
            <a:ext cx="4872900" cy="146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ubTitle" idx="1"/>
          </p:nvPr>
        </p:nvSpPr>
        <p:spPr>
          <a:xfrm>
            <a:off x="2135550" y="3058350"/>
            <a:ext cx="4872900" cy="411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ubTitle" idx="2"/>
          </p:nvPr>
        </p:nvSpPr>
        <p:spPr>
          <a:xfrm>
            <a:off x="926525" y="232275"/>
            <a:ext cx="555000" cy="21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Bebas Neue"/>
              <a:buNone/>
              <a:defRPr sz="1000"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ubTitle" idx="3"/>
          </p:nvPr>
        </p:nvSpPr>
        <p:spPr>
          <a:xfrm>
            <a:off x="1591406" y="232275"/>
            <a:ext cx="555000" cy="21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Bebas Neue"/>
              <a:buNone/>
              <a:defRPr sz="1000"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ubTitle" idx="4"/>
          </p:nvPr>
        </p:nvSpPr>
        <p:spPr>
          <a:xfrm>
            <a:off x="2256288" y="232275"/>
            <a:ext cx="555000" cy="21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Bebas Neue"/>
              <a:buNone/>
              <a:defRPr sz="1000"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5"/>
          </p:nvPr>
        </p:nvSpPr>
        <p:spPr>
          <a:xfrm>
            <a:off x="7059175" y="186525"/>
            <a:ext cx="1371600" cy="30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000"/>
              <a:buFont typeface="Bebas Neue"/>
              <a:buNone/>
              <a:defRPr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64" name="Google Shape;64;p9"/>
          <p:cNvCxnSpPr/>
          <p:nvPr/>
        </p:nvCxnSpPr>
        <p:spPr>
          <a:xfrm>
            <a:off x="706050" y="539450"/>
            <a:ext cx="773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" name="Google Shape;65;p9"/>
          <p:cNvCxnSpPr/>
          <p:nvPr/>
        </p:nvCxnSpPr>
        <p:spPr>
          <a:xfrm>
            <a:off x="706050" y="4604450"/>
            <a:ext cx="773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0" y="-810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title" hasCustomPrompt="1"/>
          </p:nvPr>
        </p:nvSpPr>
        <p:spPr>
          <a:xfrm>
            <a:off x="1856350" y="1757825"/>
            <a:ext cx="5431200" cy="121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1" name="Google Shape;71;p11"/>
          <p:cNvSpPr txBox="1">
            <a:spLocks noGrp="1"/>
          </p:cNvSpPr>
          <p:nvPr>
            <p:ph type="subTitle" idx="1"/>
          </p:nvPr>
        </p:nvSpPr>
        <p:spPr>
          <a:xfrm>
            <a:off x="1856350" y="2974100"/>
            <a:ext cx="5431200" cy="411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subTitle" idx="2"/>
          </p:nvPr>
        </p:nvSpPr>
        <p:spPr>
          <a:xfrm>
            <a:off x="926525" y="232275"/>
            <a:ext cx="555000" cy="21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Bebas Neue"/>
              <a:buNone/>
              <a:defRPr sz="1000"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ubTitle" idx="3"/>
          </p:nvPr>
        </p:nvSpPr>
        <p:spPr>
          <a:xfrm>
            <a:off x="1591406" y="232275"/>
            <a:ext cx="555000" cy="21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Bebas Neue"/>
              <a:buNone/>
              <a:defRPr sz="1000"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4"/>
          </p:nvPr>
        </p:nvSpPr>
        <p:spPr>
          <a:xfrm>
            <a:off x="2256288" y="232275"/>
            <a:ext cx="555000" cy="21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Bebas Neue"/>
              <a:buNone/>
              <a:defRPr sz="1000"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subTitle" idx="5"/>
          </p:nvPr>
        </p:nvSpPr>
        <p:spPr>
          <a:xfrm>
            <a:off x="7059175" y="186525"/>
            <a:ext cx="1371600" cy="30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000"/>
              <a:buFont typeface="Bebas Neue"/>
              <a:buNone/>
              <a:defRPr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76" name="Google Shape;76;p11"/>
          <p:cNvCxnSpPr/>
          <p:nvPr/>
        </p:nvCxnSpPr>
        <p:spPr>
          <a:xfrm>
            <a:off x="706050" y="539450"/>
            <a:ext cx="773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" name="Google Shape;77;p11"/>
          <p:cNvCxnSpPr/>
          <p:nvPr/>
        </p:nvCxnSpPr>
        <p:spPr>
          <a:xfrm>
            <a:off x="706050" y="4604450"/>
            <a:ext cx="773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dk2"/>
            </a:gs>
            <a:gs pos="100000">
              <a:schemeClr val="lt1"/>
            </a:gs>
          </a:gsLst>
          <a:lin ang="8100019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Bebas Neue"/>
              <a:buNone/>
              <a:defRPr sz="39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>
            <a:spLocks noGrp="1"/>
          </p:cNvSpPr>
          <p:nvPr>
            <p:ph type="ctrTitle"/>
          </p:nvPr>
        </p:nvSpPr>
        <p:spPr>
          <a:xfrm>
            <a:off x="1569729" y="432162"/>
            <a:ext cx="5684242" cy="218620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400" dirty="0"/>
              <a:t>Healthcare Analytics</a:t>
            </a:r>
            <a:br>
              <a:rPr lang="en-IN" sz="5400" dirty="0"/>
            </a:br>
            <a:r>
              <a:rPr lang="en-IN" sz="5400" dirty="0"/>
              <a:t> using SQL</a:t>
            </a:r>
            <a:endParaRPr sz="5400" dirty="0">
              <a:solidFill>
                <a:schemeClr val="lt2"/>
              </a:solidFill>
            </a:endParaRPr>
          </a:p>
        </p:txBody>
      </p:sp>
      <p:sp>
        <p:nvSpPr>
          <p:cNvPr id="92" name="Google Shape;92;p15"/>
          <p:cNvSpPr txBox="1">
            <a:spLocks noGrp="1"/>
          </p:cNvSpPr>
          <p:nvPr>
            <p:ph type="subTitle" idx="5"/>
          </p:nvPr>
        </p:nvSpPr>
        <p:spPr>
          <a:xfrm>
            <a:off x="6846850" y="4657367"/>
            <a:ext cx="1814698" cy="3835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Presented by: N Elangovan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BMAI-C-WD-E-B16</a:t>
            </a:r>
            <a:endParaRPr dirty="0"/>
          </a:p>
        </p:txBody>
      </p:sp>
      <p:grpSp>
        <p:nvGrpSpPr>
          <p:cNvPr id="103" name="Google Shape;103;p15"/>
          <p:cNvGrpSpPr/>
          <p:nvPr/>
        </p:nvGrpSpPr>
        <p:grpSpPr>
          <a:xfrm>
            <a:off x="101477" y="941090"/>
            <a:ext cx="1831401" cy="2275613"/>
            <a:chOff x="818300" y="1811250"/>
            <a:chExt cx="1885938" cy="2275613"/>
          </a:xfrm>
        </p:grpSpPr>
        <p:grpSp>
          <p:nvGrpSpPr>
            <p:cNvPr id="104" name="Google Shape;104;p15"/>
            <p:cNvGrpSpPr/>
            <p:nvPr/>
          </p:nvGrpSpPr>
          <p:grpSpPr>
            <a:xfrm>
              <a:off x="818300" y="1811250"/>
              <a:ext cx="1616075" cy="2275613"/>
              <a:chOff x="818300" y="2144625"/>
              <a:chExt cx="1616075" cy="2275613"/>
            </a:xfrm>
          </p:grpSpPr>
          <p:grpSp>
            <p:nvGrpSpPr>
              <p:cNvPr id="105" name="Google Shape;105;p15"/>
              <p:cNvGrpSpPr/>
              <p:nvPr/>
            </p:nvGrpSpPr>
            <p:grpSpPr>
              <a:xfrm>
                <a:off x="818300" y="2470076"/>
                <a:ext cx="1616065" cy="1564413"/>
                <a:chOff x="867250" y="2531276"/>
                <a:chExt cx="1616065" cy="1564413"/>
              </a:xfrm>
            </p:grpSpPr>
            <p:sp>
              <p:nvSpPr>
                <p:cNvPr id="106" name="Google Shape;106;p15"/>
                <p:cNvSpPr/>
                <p:nvPr/>
              </p:nvSpPr>
              <p:spPr>
                <a:xfrm>
                  <a:off x="867250" y="3173775"/>
                  <a:ext cx="916982" cy="921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81" h="18882" extrusionOk="0">
                      <a:moveTo>
                        <a:pt x="9274" y="3801"/>
                      </a:moveTo>
                      <a:cubicBezTo>
                        <a:pt x="12166" y="3801"/>
                        <a:pt x="14944" y="6056"/>
                        <a:pt x="14944" y="9441"/>
                      </a:cubicBezTo>
                      <a:cubicBezTo>
                        <a:pt x="14944" y="12543"/>
                        <a:pt x="12442" y="15078"/>
                        <a:pt x="9340" y="15078"/>
                      </a:cubicBezTo>
                      <a:lnTo>
                        <a:pt x="9307" y="15078"/>
                      </a:lnTo>
                      <a:cubicBezTo>
                        <a:pt x="4303" y="15078"/>
                        <a:pt x="1801" y="9007"/>
                        <a:pt x="5337" y="5471"/>
                      </a:cubicBezTo>
                      <a:cubicBezTo>
                        <a:pt x="6481" y="4317"/>
                        <a:pt x="7891" y="3801"/>
                        <a:pt x="9274" y="3801"/>
                      </a:cubicBezTo>
                      <a:close/>
                      <a:moveTo>
                        <a:pt x="9674" y="1"/>
                      </a:moveTo>
                      <a:cubicBezTo>
                        <a:pt x="9674" y="1"/>
                        <a:pt x="9440" y="468"/>
                        <a:pt x="9240" y="968"/>
                      </a:cubicBezTo>
                      <a:cubicBezTo>
                        <a:pt x="9173" y="1168"/>
                        <a:pt x="9107" y="1368"/>
                        <a:pt x="9040" y="1569"/>
                      </a:cubicBezTo>
                      <a:cubicBezTo>
                        <a:pt x="8873" y="1569"/>
                        <a:pt x="8706" y="1569"/>
                        <a:pt x="8540" y="1602"/>
                      </a:cubicBezTo>
                      <a:lnTo>
                        <a:pt x="8339" y="1635"/>
                      </a:lnTo>
                      <a:lnTo>
                        <a:pt x="8139" y="1669"/>
                      </a:lnTo>
                      <a:cubicBezTo>
                        <a:pt x="7973" y="1669"/>
                        <a:pt x="7806" y="1702"/>
                        <a:pt x="7639" y="1769"/>
                      </a:cubicBezTo>
                      <a:cubicBezTo>
                        <a:pt x="7539" y="1602"/>
                        <a:pt x="7405" y="1435"/>
                        <a:pt x="7272" y="1235"/>
                      </a:cubicBezTo>
                      <a:cubicBezTo>
                        <a:pt x="7139" y="1068"/>
                        <a:pt x="6938" y="835"/>
                        <a:pt x="6838" y="668"/>
                      </a:cubicBezTo>
                      <a:cubicBezTo>
                        <a:pt x="6705" y="535"/>
                        <a:pt x="6605" y="434"/>
                        <a:pt x="6605" y="434"/>
                      </a:cubicBezTo>
                      <a:lnTo>
                        <a:pt x="6271" y="568"/>
                      </a:lnTo>
                      <a:cubicBezTo>
                        <a:pt x="6004" y="635"/>
                        <a:pt x="5771" y="735"/>
                        <a:pt x="5537" y="835"/>
                      </a:cubicBezTo>
                      <a:cubicBezTo>
                        <a:pt x="5271" y="968"/>
                        <a:pt x="5004" y="1102"/>
                        <a:pt x="4837" y="1202"/>
                      </a:cubicBezTo>
                      <a:lnTo>
                        <a:pt x="4537" y="1402"/>
                      </a:lnTo>
                      <a:cubicBezTo>
                        <a:pt x="4537" y="1402"/>
                        <a:pt x="4570" y="1902"/>
                        <a:pt x="4704" y="2403"/>
                      </a:cubicBezTo>
                      <a:cubicBezTo>
                        <a:pt x="4737" y="2636"/>
                        <a:pt x="4804" y="2870"/>
                        <a:pt x="4837" y="3036"/>
                      </a:cubicBezTo>
                      <a:lnTo>
                        <a:pt x="4437" y="3337"/>
                      </a:lnTo>
                      <a:lnTo>
                        <a:pt x="4270" y="3470"/>
                      </a:lnTo>
                      <a:lnTo>
                        <a:pt x="4136" y="3603"/>
                      </a:lnTo>
                      <a:cubicBezTo>
                        <a:pt x="4003" y="3703"/>
                        <a:pt x="3870" y="3837"/>
                        <a:pt x="3770" y="3970"/>
                      </a:cubicBezTo>
                      <a:cubicBezTo>
                        <a:pt x="3603" y="3904"/>
                        <a:pt x="3403" y="3804"/>
                        <a:pt x="3169" y="3737"/>
                      </a:cubicBezTo>
                      <a:cubicBezTo>
                        <a:pt x="2702" y="3537"/>
                        <a:pt x="2202" y="3403"/>
                        <a:pt x="2202" y="3403"/>
                      </a:cubicBezTo>
                      <a:cubicBezTo>
                        <a:pt x="2168" y="3437"/>
                        <a:pt x="2135" y="3437"/>
                        <a:pt x="2135" y="3470"/>
                      </a:cubicBezTo>
                      <a:cubicBezTo>
                        <a:pt x="2102" y="3537"/>
                        <a:pt x="2035" y="3603"/>
                        <a:pt x="1968" y="3703"/>
                      </a:cubicBezTo>
                      <a:cubicBezTo>
                        <a:pt x="1801" y="3904"/>
                        <a:pt x="1668" y="4104"/>
                        <a:pt x="1501" y="4337"/>
                      </a:cubicBezTo>
                      <a:cubicBezTo>
                        <a:pt x="1368" y="4571"/>
                        <a:pt x="1201" y="4804"/>
                        <a:pt x="1101" y="5004"/>
                      </a:cubicBezTo>
                      <a:lnTo>
                        <a:pt x="934" y="5338"/>
                      </a:lnTo>
                      <a:cubicBezTo>
                        <a:pt x="934" y="5338"/>
                        <a:pt x="1268" y="5738"/>
                        <a:pt x="1635" y="6105"/>
                      </a:cubicBezTo>
                      <a:cubicBezTo>
                        <a:pt x="1801" y="6272"/>
                        <a:pt x="1968" y="6405"/>
                        <a:pt x="2102" y="6539"/>
                      </a:cubicBezTo>
                      <a:cubicBezTo>
                        <a:pt x="2035" y="6739"/>
                        <a:pt x="1968" y="6906"/>
                        <a:pt x="1902" y="7039"/>
                      </a:cubicBezTo>
                      <a:cubicBezTo>
                        <a:pt x="1902" y="7073"/>
                        <a:pt x="1868" y="7106"/>
                        <a:pt x="1868" y="7173"/>
                      </a:cubicBezTo>
                      <a:lnTo>
                        <a:pt x="1868" y="7206"/>
                      </a:lnTo>
                      <a:cubicBezTo>
                        <a:pt x="1868" y="7206"/>
                        <a:pt x="1801" y="7473"/>
                        <a:pt x="1701" y="7907"/>
                      </a:cubicBezTo>
                      <a:cubicBezTo>
                        <a:pt x="1535" y="7940"/>
                        <a:pt x="1301" y="7973"/>
                        <a:pt x="1101" y="8007"/>
                      </a:cubicBezTo>
                      <a:cubicBezTo>
                        <a:pt x="601" y="8140"/>
                        <a:pt x="67" y="8307"/>
                        <a:pt x="67" y="8307"/>
                      </a:cubicBezTo>
                      <a:cubicBezTo>
                        <a:pt x="67" y="8407"/>
                        <a:pt x="34" y="8540"/>
                        <a:pt x="34" y="8640"/>
                      </a:cubicBezTo>
                      <a:cubicBezTo>
                        <a:pt x="34" y="8874"/>
                        <a:pt x="34" y="9141"/>
                        <a:pt x="0" y="9441"/>
                      </a:cubicBezTo>
                      <a:cubicBezTo>
                        <a:pt x="0" y="9741"/>
                        <a:pt x="34" y="10008"/>
                        <a:pt x="34" y="10242"/>
                      </a:cubicBezTo>
                      <a:cubicBezTo>
                        <a:pt x="34" y="10342"/>
                        <a:pt x="67" y="10475"/>
                        <a:pt x="67" y="10575"/>
                      </a:cubicBezTo>
                      <a:cubicBezTo>
                        <a:pt x="67" y="10575"/>
                        <a:pt x="601" y="10742"/>
                        <a:pt x="1101" y="10842"/>
                      </a:cubicBezTo>
                      <a:cubicBezTo>
                        <a:pt x="1301" y="10909"/>
                        <a:pt x="1535" y="10942"/>
                        <a:pt x="1701" y="10975"/>
                      </a:cubicBezTo>
                      <a:cubicBezTo>
                        <a:pt x="1801" y="11376"/>
                        <a:pt x="1868" y="11676"/>
                        <a:pt x="1868" y="11676"/>
                      </a:cubicBezTo>
                      <a:lnTo>
                        <a:pt x="1868" y="11709"/>
                      </a:lnTo>
                      <a:cubicBezTo>
                        <a:pt x="1868" y="11743"/>
                        <a:pt x="1902" y="11809"/>
                        <a:pt x="1902" y="11843"/>
                      </a:cubicBezTo>
                      <a:cubicBezTo>
                        <a:pt x="1968" y="11976"/>
                        <a:pt x="2035" y="12143"/>
                        <a:pt x="2102" y="12343"/>
                      </a:cubicBezTo>
                      <a:cubicBezTo>
                        <a:pt x="1968" y="12443"/>
                        <a:pt x="1801" y="12610"/>
                        <a:pt x="1635" y="12777"/>
                      </a:cubicBezTo>
                      <a:cubicBezTo>
                        <a:pt x="1268" y="13144"/>
                        <a:pt x="934" y="13544"/>
                        <a:pt x="934" y="13544"/>
                      </a:cubicBezTo>
                      <a:lnTo>
                        <a:pt x="1101" y="13877"/>
                      </a:lnTo>
                      <a:cubicBezTo>
                        <a:pt x="1201" y="14044"/>
                        <a:pt x="1334" y="14278"/>
                        <a:pt x="1501" y="14545"/>
                      </a:cubicBezTo>
                      <a:cubicBezTo>
                        <a:pt x="1668" y="14778"/>
                        <a:pt x="1801" y="14978"/>
                        <a:pt x="1968" y="15178"/>
                      </a:cubicBezTo>
                      <a:cubicBezTo>
                        <a:pt x="2035" y="15278"/>
                        <a:pt x="2102" y="15345"/>
                        <a:pt x="2135" y="15379"/>
                      </a:cubicBezTo>
                      <a:cubicBezTo>
                        <a:pt x="2135" y="15412"/>
                        <a:pt x="2168" y="15445"/>
                        <a:pt x="2202" y="15479"/>
                      </a:cubicBezTo>
                      <a:cubicBezTo>
                        <a:pt x="2202" y="15479"/>
                        <a:pt x="2702" y="15312"/>
                        <a:pt x="3169" y="15145"/>
                      </a:cubicBezTo>
                      <a:cubicBezTo>
                        <a:pt x="3403" y="15078"/>
                        <a:pt x="3603" y="14978"/>
                        <a:pt x="3770" y="14912"/>
                      </a:cubicBezTo>
                      <a:cubicBezTo>
                        <a:pt x="3903" y="15078"/>
                        <a:pt x="4036" y="15178"/>
                        <a:pt x="4136" y="15278"/>
                      </a:cubicBezTo>
                      <a:lnTo>
                        <a:pt x="4270" y="15412"/>
                      </a:lnTo>
                      <a:lnTo>
                        <a:pt x="4437" y="15545"/>
                      </a:lnTo>
                      <a:lnTo>
                        <a:pt x="4837" y="15846"/>
                      </a:lnTo>
                      <a:cubicBezTo>
                        <a:pt x="4804" y="16012"/>
                        <a:pt x="4737" y="16246"/>
                        <a:pt x="4704" y="16479"/>
                      </a:cubicBezTo>
                      <a:cubicBezTo>
                        <a:pt x="4570" y="16946"/>
                        <a:pt x="4537" y="17480"/>
                        <a:pt x="4537" y="17480"/>
                      </a:cubicBezTo>
                      <a:lnTo>
                        <a:pt x="4837" y="17680"/>
                      </a:lnTo>
                      <a:cubicBezTo>
                        <a:pt x="5004" y="17780"/>
                        <a:pt x="5271" y="17880"/>
                        <a:pt x="5537" y="18014"/>
                      </a:cubicBezTo>
                      <a:cubicBezTo>
                        <a:pt x="5771" y="18147"/>
                        <a:pt x="6004" y="18247"/>
                        <a:pt x="6271" y="18314"/>
                      </a:cubicBezTo>
                      <a:lnTo>
                        <a:pt x="6605" y="18447"/>
                      </a:lnTo>
                      <a:cubicBezTo>
                        <a:pt x="6605" y="18447"/>
                        <a:pt x="6705" y="18347"/>
                        <a:pt x="6838" y="18181"/>
                      </a:cubicBezTo>
                      <a:cubicBezTo>
                        <a:pt x="6938" y="18047"/>
                        <a:pt x="7105" y="17847"/>
                        <a:pt x="7272" y="17647"/>
                      </a:cubicBezTo>
                      <a:cubicBezTo>
                        <a:pt x="7439" y="17413"/>
                        <a:pt x="7539" y="17280"/>
                        <a:pt x="7639" y="17113"/>
                      </a:cubicBezTo>
                      <a:cubicBezTo>
                        <a:pt x="7806" y="17180"/>
                        <a:pt x="7973" y="17213"/>
                        <a:pt x="8139" y="17213"/>
                      </a:cubicBezTo>
                      <a:lnTo>
                        <a:pt x="8339" y="17247"/>
                      </a:lnTo>
                      <a:lnTo>
                        <a:pt x="8540" y="17280"/>
                      </a:lnTo>
                      <a:cubicBezTo>
                        <a:pt x="8706" y="17313"/>
                        <a:pt x="8873" y="17313"/>
                        <a:pt x="9040" y="17313"/>
                      </a:cubicBezTo>
                      <a:cubicBezTo>
                        <a:pt x="9107" y="17480"/>
                        <a:pt x="9173" y="17714"/>
                        <a:pt x="9240" y="17914"/>
                      </a:cubicBezTo>
                      <a:cubicBezTo>
                        <a:pt x="9440" y="18414"/>
                        <a:pt x="9674" y="18881"/>
                        <a:pt x="9674" y="18881"/>
                      </a:cubicBezTo>
                      <a:lnTo>
                        <a:pt x="10041" y="18881"/>
                      </a:lnTo>
                      <a:lnTo>
                        <a:pt x="10408" y="18848"/>
                      </a:lnTo>
                      <a:cubicBezTo>
                        <a:pt x="10541" y="18848"/>
                        <a:pt x="10674" y="18814"/>
                        <a:pt x="10808" y="18781"/>
                      </a:cubicBezTo>
                      <a:cubicBezTo>
                        <a:pt x="11075" y="18748"/>
                        <a:pt x="11342" y="18714"/>
                        <a:pt x="11575" y="18648"/>
                      </a:cubicBezTo>
                      <a:lnTo>
                        <a:pt x="11942" y="18581"/>
                      </a:lnTo>
                      <a:cubicBezTo>
                        <a:pt x="11942" y="18581"/>
                        <a:pt x="12009" y="18047"/>
                        <a:pt x="12075" y="17547"/>
                      </a:cubicBezTo>
                      <a:cubicBezTo>
                        <a:pt x="12075" y="17313"/>
                        <a:pt x="12075" y="17080"/>
                        <a:pt x="12075" y="16913"/>
                      </a:cubicBezTo>
                      <a:cubicBezTo>
                        <a:pt x="12276" y="16813"/>
                        <a:pt x="12442" y="16780"/>
                        <a:pt x="12576" y="16713"/>
                      </a:cubicBezTo>
                      <a:lnTo>
                        <a:pt x="12743" y="16646"/>
                      </a:lnTo>
                      <a:lnTo>
                        <a:pt x="12909" y="16546"/>
                      </a:lnTo>
                      <a:cubicBezTo>
                        <a:pt x="13076" y="16479"/>
                        <a:pt x="13243" y="16413"/>
                        <a:pt x="13376" y="16313"/>
                      </a:cubicBezTo>
                      <a:cubicBezTo>
                        <a:pt x="13510" y="16413"/>
                        <a:pt x="13677" y="16579"/>
                        <a:pt x="13877" y="16713"/>
                      </a:cubicBezTo>
                      <a:cubicBezTo>
                        <a:pt x="14277" y="17013"/>
                        <a:pt x="14744" y="17280"/>
                        <a:pt x="14744" y="17280"/>
                      </a:cubicBezTo>
                      <a:lnTo>
                        <a:pt x="15011" y="17080"/>
                      </a:lnTo>
                      <a:cubicBezTo>
                        <a:pt x="15178" y="16946"/>
                        <a:pt x="15445" y="16780"/>
                        <a:pt x="15645" y="16579"/>
                      </a:cubicBezTo>
                      <a:cubicBezTo>
                        <a:pt x="15845" y="16379"/>
                        <a:pt x="16045" y="16212"/>
                        <a:pt x="16212" y="16046"/>
                      </a:cubicBezTo>
                      <a:lnTo>
                        <a:pt x="16445" y="15779"/>
                      </a:lnTo>
                      <a:cubicBezTo>
                        <a:pt x="16445" y="15779"/>
                        <a:pt x="16245" y="15312"/>
                        <a:pt x="16012" y="14845"/>
                      </a:cubicBezTo>
                      <a:cubicBezTo>
                        <a:pt x="15912" y="14645"/>
                        <a:pt x="15778" y="14445"/>
                        <a:pt x="15711" y="14311"/>
                      </a:cubicBezTo>
                      <a:lnTo>
                        <a:pt x="16012" y="13877"/>
                      </a:lnTo>
                      <a:lnTo>
                        <a:pt x="16112" y="13711"/>
                      </a:lnTo>
                      <a:lnTo>
                        <a:pt x="16212" y="13544"/>
                      </a:lnTo>
                      <a:cubicBezTo>
                        <a:pt x="16278" y="13444"/>
                        <a:pt x="16379" y="13310"/>
                        <a:pt x="16479" y="13110"/>
                      </a:cubicBezTo>
                      <a:cubicBezTo>
                        <a:pt x="16645" y="13110"/>
                        <a:pt x="16846" y="13144"/>
                        <a:pt x="17079" y="13144"/>
                      </a:cubicBezTo>
                      <a:cubicBezTo>
                        <a:pt x="17346" y="13177"/>
                        <a:pt x="17613" y="13185"/>
                        <a:pt x="17813" y="13185"/>
                      </a:cubicBezTo>
                      <a:cubicBezTo>
                        <a:pt x="18013" y="13185"/>
                        <a:pt x="18146" y="13177"/>
                        <a:pt x="18146" y="13177"/>
                      </a:cubicBezTo>
                      <a:cubicBezTo>
                        <a:pt x="18146" y="13144"/>
                        <a:pt x="18146" y="13144"/>
                        <a:pt x="18180" y="13110"/>
                      </a:cubicBezTo>
                      <a:cubicBezTo>
                        <a:pt x="18213" y="13044"/>
                        <a:pt x="18213" y="12943"/>
                        <a:pt x="18280" y="12843"/>
                      </a:cubicBezTo>
                      <a:cubicBezTo>
                        <a:pt x="18347" y="12643"/>
                        <a:pt x="18447" y="12376"/>
                        <a:pt x="18513" y="12110"/>
                      </a:cubicBezTo>
                      <a:lnTo>
                        <a:pt x="18714" y="11342"/>
                      </a:lnTo>
                      <a:cubicBezTo>
                        <a:pt x="18747" y="11109"/>
                        <a:pt x="18780" y="10975"/>
                        <a:pt x="18780" y="10975"/>
                      </a:cubicBezTo>
                      <a:cubicBezTo>
                        <a:pt x="18780" y="10975"/>
                        <a:pt x="18347" y="10675"/>
                        <a:pt x="17880" y="10442"/>
                      </a:cubicBezTo>
                      <a:cubicBezTo>
                        <a:pt x="17679" y="10375"/>
                        <a:pt x="17479" y="10242"/>
                        <a:pt x="17313" y="10175"/>
                      </a:cubicBezTo>
                      <a:lnTo>
                        <a:pt x="17346" y="9441"/>
                      </a:lnTo>
                      <a:lnTo>
                        <a:pt x="17313" y="8740"/>
                      </a:lnTo>
                      <a:cubicBezTo>
                        <a:pt x="17479" y="8674"/>
                        <a:pt x="17679" y="8540"/>
                        <a:pt x="17880" y="8440"/>
                      </a:cubicBezTo>
                      <a:cubicBezTo>
                        <a:pt x="18313" y="8207"/>
                        <a:pt x="18747" y="7907"/>
                        <a:pt x="18747" y="7907"/>
                      </a:cubicBezTo>
                      <a:cubicBezTo>
                        <a:pt x="18747" y="7907"/>
                        <a:pt x="18747" y="7773"/>
                        <a:pt x="18714" y="7540"/>
                      </a:cubicBezTo>
                      <a:lnTo>
                        <a:pt x="18513" y="6772"/>
                      </a:lnTo>
                      <a:cubicBezTo>
                        <a:pt x="18447" y="6505"/>
                        <a:pt x="18313" y="6239"/>
                        <a:pt x="18247" y="6038"/>
                      </a:cubicBezTo>
                      <a:cubicBezTo>
                        <a:pt x="18213" y="5938"/>
                        <a:pt x="18180" y="5838"/>
                        <a:pt x="18146" y="5805"/>
                      </a:cubicBezTo>
                      <a:cubicBezTo>
                        <a:pt x="18146" y="5772"/>
                        <a:pt x="18146" y="5738"/>
                        <a:pt x="18113" y="5705"/>
                      </a:cubicBezTo>
                      <a:cubicBezTo>
                        <a:pt x="18113" y="5705"/>
                        <a:pt x="17579" y="5705"/>
                        <a:pt x="17079" y="5738"/>
                      </a:cubicBezTo>
                      <a:cubicBezTo>
                        <a:pt x="16846" y="5738"/>
                        <a:pt x="16645" y="5772"/>
                        <a:pt x="16445" y="5772"/>
                      </a:cubicBezTo>
                      <a:cubicBezTo>
                        <a:pt x="16345" y="5605"/>
                        <a:pt x="16245" y="5438"/>
                        <a:pt x="16178" y="5338"/>
                      </a:cubicBezTo>
                      <a:lnTo>
                        <a:pt x="16112" y="5171"/>
                      </a:lnTo>
                      <a:lnTo>
                        <a:pt x="16012" y="5004"/>
                      </a:lnTo>
                      <a:lnTo>
                        <a:pt x="15711" y="4571"/>
                      </a:lnTo>
                      <a:cubicBezTo>
                        <a:pt x="15778" y="4404"/>
                        <a:pt x="15912" y="4237"/>
                        <a:pt x="16012" y="4037"/>
                      </a:cubicBezTo>
                      <a:cubicBezTo>
                        <a:pt x="16245" y="3570"/>
                        <a:pt x="16445" y="3103"/>
                        <a:pt x="16445" y="3103"/>
                      </a:cubicBezTo>
                      <a:lnTo>
                        <a:pt x="16212" y="2836"/>
                      </a:lnTo>
                      <a:cubicBezTo>
                        <a:pt x="16078" y="2669"/>
                        <a:pt x="15845" y="2469"/>
                        <a:pt x="15645" y="2302"/>
                      </a:cubicBezTo>
                      <a:cubicBezTo>
                        <a:pt x="15445" y="2102"/>
                        <a:pt x="15211" y="1936"/>
                        <a:pt x="15011" y="1802"/>
                      </a:cubicBezTo>
                      <a:lnTo>
                        <a:pt x="14744" y="1569"/>
                      </a:lnTo>
                      <a:cubicBezTo>
                        <a:pt x="14744" y="1569"/>
                        <a:pt x="14277" y="1869"/>
                        <a:pt x="13877" y="2169"/>
                      </a:cubicBezTo>
                      <a:cubicBezTo>
                        <a:pt x="13677" y="2302"/>
                        <a:pt x="13510" y="2436"/>
                        <a:pt x="13376" y="2569"/>
                      </a:cubicBezTo>
                      <a:cubicBezTo>
                        <a:pt x="13243" y="2469"/>
                        <a:pt x="13076" y="2403"/>
                        <a:pt x="12909" y="2336"/>
                      </a:cubicBezTo>
                      <a:lnTo>
                        <a:pt x="12743" y="2236"/>
                      </a:lnTo>
                      <a:lnTo>
                        <a:pt x="12576" y="2169"/>
                      </a:lnTo>
                      <a:cubicBezTo>
                        <a:pt x="12442" y="2102"/>
                        <a:pt x="12276" y="2036"/>
                        <a:pt x="12075" y="1969"/>
                      </a:cubicBezTo>
                      <a:cubicBezTo>
                        <a:pt x="12075" y="1802"/>
                        <a:pt x="12075" y="1569"/>
                        <a:pt x="12075" y="1335"/>
                      </a:cubicBezTo>
                      <a:cubicBezTo>
                        <a:pt x="12009" y="835"/>
                        <a:pt x="11942" y="301"/>
                        <a:pt x="11942" y="301"/>
                      </a:cubicBezTo>
                      <a:lnTo>
                        <a:pt x="11575" y="234"/>
                      </a:lnTo>
                      <a:cubicBezTo>
                        <a:pt x="11342" y="168"/>
                        <a:pt x="11075" y="101"/>
                        <a:pt x="10808" y="68"/>
                      </a:cubicBezTo>
                      <a:cubicBezTo>
                        <a:pt x="10674" y="68"/>
                        <a:pt x="10541" y="34"/>
                        <a:pt x="10408" y="34"/>
                      </a:cubicBezTo>
                      <a:lnTo>
                        <a:pt x="1004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" name="Google Shape;107;p15"/>
                <p:cNvSpPr/>
                <p:nvPr/>
              </p:nvSpPr>
              <p:spPr>
                <a:xfrm rot="-1490104">
                  <a:off x="1611679" y="2635340"/>
                  <a:ext cx="636418" cy="639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81" h="18882" extrusionOk="0">
                      <a:moveTo>
                        <a:pt x="9274" y="3801"/>
                      </a:moveTo>
                      <a:cubicBezTo>
                        <a:pt x="12166" y="3801"/>
                        <a:pt x="14944" y="6056"/>
                        <a:pt x="14944" y="9441"/>
                      </a:cubicBezTo>
                      <a:cubicBezTo>
                        <a:pt x="14944" y="12543"/>
                        <a:pt x="12442" y="15078"/>
                        <a:pt x="9340" y="15078"/>
                      </a:cubicBezTo>
                      <a:lnTo>
                        <a:pt x="9307" y="15078"/>
                      </a:lnTo>
                      <a:cubicBezTo>
                        <a:pt x="4303" y="15078"/>
                        <a:pt x="1801" y="9007"/>
                        <a:pt x="5337" y="5471"/>
                      </a:cubicBezTo>
                      <a:cubicBezTo>
                        <a:pt x="6481" y="4317"/>
                        <a:pt x="7891" y="3801"/>
                        <a:pt x="9274" y="3801"/>
                      </a:cubicBezTo>
                      <a:close/>
                      <a:moveTo>
                        <a:pt x="9674" y="1"/>
                      </a:moveTo>
                      <a:cubicBezTo>
                        <a:pt x="9674" y="1"/>
                        <a:pt x="9440" y="468"/>
                        <a:pt x="9240" y="968"/>
                      </a:cubicBezTo>
                      <a:cubicBezTo>
                        <a:pt x="9173" y="1168"/>
                        <a:pt x="9107" y="1368"/>
                        <a:pt x="9040" y="1569"/>
                      </a:cubicBezTo>
                      <a:cubicBezTo>
                        <a:pt x="8873" y="1569"/>
                        <a:pt x="8706" y="1569"/>
                        <a:pt x="8540" y="1602"/>
                      </a:cubicBezTo>
                      <a:lnTo>
                        <a:pt x="8339" y="1635"/>
                      </a:lnTo>
                      <a:lnTo>
                        <a:pt x="8139" y="1669"/>
                      </a:lnTo>
                      <a:cubicBezTo>
                        <a:pt x="7973" y="1669"/>
                        <a:pt x="7806" y="1702"/>
                        <a:pt x="7639" y="1769"/>
                      </a:cubicBezTo>
                      <a:cubicBezTo>
                        <a:pt x="7539" y="1602"/>
                        <a:pt x="7405" y="1435"/>
                        <a:pt x="7272" y="1235"/>
                      </a:cubicBezTo>
                      <a:cubicBezTo>
                        <a:pt x="7139" y="1068"/>
                        <a:pt x="6938" y="835"/>
                        <a:pt x="6838" y="668"/>
                      </a:cubicBezTo>
                      <a:cubicBezTo>
                        <a:pt x="6705" y="535"/>
                        <a:pt x="6605" y="434"/>
                        <a:pt x="6605" y="434"/>
                      </a:cubicBezTo>
                      <a:lnTo>
                        <a:pt x="6271" y="568"/>
                      </a:lnTo>
                      <a:cubicBezTo>
                        <a:pt x="6004" y="635"/>
                        <a:pt x="5771" y="735"/>
                        <a:pt x="5537" y="835"/>
                      </a:cubicBezTo>
                      <a:cubicBezTo>
                        <a:pt x="5271" y="968"/>
                        <a:pt x="5004" y="1102"/>
                        <a:pt x="4837" y="1202"/>
                      </a:cubicBezTo>
                      <a:lnTo>
                        <a:pt x="4537" y="1402"/>
                      </a:lnTo>
                      <a:cubicBezTo>
                        <a:pt x="4537" y="1402"/>
                        <a:pt x="4570" y="1902"/>
                        <a:pt x="4704" y="2403"/>
                      </a:cubicBezTo>
                      <a:cubicBezTo>
                        <a:pt x="4737" y="2636"/>
                        <a:pt x="4804" y="2870"/>
                        <a:pt x="4837" y="3036"/>
                      </a:cubicBezTo>
                      <a:lnTo>
                        <a:pt x="4437" y="3337"/>
                      </a:lnTo>
                      <a:lnTo>
                        <a:pt x="4270" y="3470"/>
                      </a:lnTo>
                      <a:lnTo>
                        <a:pt x="4136" y="3603"/>
                      </a:lnTo>
                      <a:cubicBezTo>
                        <a:pt x="4003" y="3703"/>
                        <a:pt x="3870" y="3837"/>
                        <a:pt x="3770" y="3970"/>
                      </a:cubicBezTo>
                      <a:cubicBezTo>
                        <a:pt x="3603" y="3904"/>
                        <a:pt x="3403" y="3804"/>
                        <a:pt x="3169" y="3737"/>
                      </a:cubicBezTo>
                      <a:cubicBezTo>
                        <a:pt x="2702" y="3537"/>
                        <a:pt x="2202" y="3403"/>
                        <a:pt x="2202" y="3403"/>
                      </a:cubicBezTo>
                      <a:cubicBezTo>
                        <a:pt x="2168" y="3437"/>
                        <a:pt x="2135" y="3437"/>
                        <a:pt x="2135" y="3470"/>
                      </a:cubicBezTo>
                      <a:cubicBezTo>
                        <a:pt x="2102" y="3537"/>
                        <a:pt x="2035" y="3603"/>
                        <a:pt x="1968" y="3703"/>
                      </a:cubicBezTo>
                      <a:cubicBezTo>
                        <a:pt x="1801" y="3904"/>
                        <a:pt x="1668" y="4104"/>
                        <a:pt x="1501" y="4337"/>
                      </a:cubicBezTo>
                      <a:cubicBezTo>
                        <a:pt x="1368" y="4571"/>
                        <a:pt x="1201" y="4804"/>
                        <a:pt x="1101" y="5004"/>
                      </a:cubicBezTo>
                      <a:lnTo>
                        <a:pt x="934" y="5338"/>
                      </a:lnTo>
                      <a:cubicBezTo>
                        <a:pt x="934" y="5338"/>
                        <a:pt x="1268" y="5738"/>
                        <a:pt x="1635" y="6105"/>
                      </a:cubicBezTo>
                      <a:cubicBezTo>
                        <a:pt x="1801" y="6272"/>
                        <a:pt x="1968" y="6405"/>
                        <a:pt x="2102" y="6539"/>
                      </a:cubicBezTo>
                      <a:cubicBezTo>
                        <a:pt x="2035" y="6739"/>
                        <a:pt x="1968" y="6906"/>
                        <a:pt x="1902" y="7039"/>
                      </a:cubicBezTo>
                      <a:cubicBezTo>
                        <a:pt x="1902" y="7073"/>
                        <a:pt x="1868" y="7106"/>
                        <a:pt x="1868" y="7173"/>
                      </a:cubicBezTo>
                      <a:lnTo>
                        <a:pt x="1868" y="7206"/>
                      </a:lnTo>
                      <a:cubicBezTo>
                        <a:pt x="1868" y="7206"/>
                        <a:pt x="1801" y="7473"/>
                        <a:pt x="1701" y="7907"/>
                      </a:cubicBezTo>
                      <a:cubicBezTo>
                        <a:pt x="1535" y="7940"/>
                        <a:pt x="1301" y="7973"/>
                        <a:pt x="1101" y="8007"/>
                      </a:cubicBezTo>
                      <a:cubicBezTo>
                        <a:pt x="601" y="8140"/>
                        <a:pt x="67" y="8307"/>
                        <a:pt x="67" y="8307"/>
                      </a:cubicBezTo>
                      <a:cubicBezTo>
                        <a:pt x="67" y="8407"/>
                        <a:pt x="34" y="8540"/>
                        <a:pt x="34" y="8640"/>
                      </a:cubicBezTo>
                      <a:cubicBezTo>
                        <a:pt x="34" y="8874"/>
                        <a:pt x="34" y="9141"/>
                        <a:pt x="0" y="9441"/>
                      </a:cubicBezTo>
                      <a:cubicBezTo>
                        <a:pt x="0" y="9741"/>
                        <a:pt x="34" y="10008"/>
                        <a:pt x="34" y="10242"/>
                      </a:cubicBezTo>
                      <a:cubicBezTo>
                        <a:pt x="34" y="10342"/>
                        <a:pt x="67" y="10475"/>
                        <a:pt x="67" y="10575"/>
                      </a:cubicBezTo>
                      <a:cubicBezTo>
                        <a:pt x="67" y="10575"/>
                        <a:pt x="601" y="10742"/>
                        <a:pt x="1101" y="10842"/>
                      </a:cubicBezTo>
                      <a:cubicBezTo>
                        <a:pt x="1301" y="10909"/>
                        <a:pt x="1535" y="10942"/>
                        <a:pt x="1701" y="10975"/>
                      </a:cubicBezTo>
                      <a:cubicBezTo>
                        <a:pt x="1801" y="11376"/>
                        <a:pt x="1868" y="11676"/>
                        <a:pt x="1868" y="11676"/>
                      </a:cubicBezTo>
                      <a:lnTo>
                        <a:pt x="1868" y="11709"/>
                      </a:lnTo>
                      <a:cubicBezTo>
                        <a:pt x="1868" y="11743"/>
                        <a:pt x="1902" y="11809"/>
                        <a:pt x="1902" y="11843"/>
                      </a:cubicBezTo>
                      <a:cubicBezTo>
                        <a:pt x="1968" y="11976"/>
                        <a:pt x="2035" y="12143"/>
                        <a:pt x="2102" y="12343"/>
                      </a:cubicBezTo>
                      <a:cubicBezTo>
                        <a:pt x="1968" y="12443"/>
                        <a:pt x="1801" y="12610"/>
                        <a:pt x="1635" y="12777"/>
                      </a:cubicBezTo>
                      <a:cubicBezTo>
                        <a:pt x="1268" y="13144"/>
                        <a:pt x="934" y="13544"/>
                        <a:pt x="934" y="13544"/>
                      </a:cubicBezTo>
                      <a:lnTo>
                        <a:pt x="1101" y="13877"/>
                      </a:lnTo>
                      <a:cubicBezTo>
                        <a:pt x="1201" y="14044"/>
                        <a:pt x="1334" y="14278"/>
                        <a:pt x="1501" y="14545"/>
                      </a:cubicBezTo>
                      <a:cubicBezTo>
                        <a:pt x="1668" y="14778"/>
                        <a:pt x="1801" y="14978"/>
                        <a:pt x="1968" y="15178"/>
                      </a:cubicBezTo>
                      <a:cubicBezTo>
                        <a:pt x="2035" y="15278"/>
                        <a:pt x="2102" y="15345"/>
                        <a:pt x="2135" y="15379"/>
                      </a:cubicBezTo>
                      <a:cubicBezTo>
                        <a:pt x="2135" y="15412"/>
                        <a:pt x="2168" y="15445"/>
                        <a:pt x="2202" y="15479"/>
                      </a:cubicBezTo>
                      <a:cubicBezTo>
                        <a:pt x="2202" y="15479"/>
                        <a:pt x="2702" y="15312"/>
                        <a:pt x="3169" y="15145"/>
                      </a:cubicBezTo>
                      <a:cubicBezTo>
                        <a:pt x="3403" y="15078"/>
                        <a:pt x="3603" y="14978"/>
                        <a:pt x="3770" y="14912"/>
                      </a:cubicBezTo>
                      <a:cubicBezTo>
                        <a:pt x="3903" y="15078"/>
                        <a:pt x="4036" y="15178"/>
                        <a:pt x="4136" y="15278"/>
                      </a:cubicBezTo>
                      <a:lnTo>
                        <a:pt x="4270" y="15412"/>
                      </a:lnTo>
                      <a:lnTo>
                        <a:pt x="4437" y="15545"/>
                      </a:lnTo>
                      <a:lnTo>
                        <a:pt x="4837" y="15846"/>
                      </a:lnTo>
                      <a:cubicBezTo>
                        <a:pt x="4804" y="16012"/>
                        <a:pt x="4737" y="16246"/>
                        <a:pt x="4704" y="16479"/>
                      </a:cubicBezTo>
                      <a:cubicBezTo>
                        <a:pt x="4570" y="16946"/>
                        <a:pt x="4537" y="17480"/>
                        <a:pt x="4537" y="17480"/>
                      </a:cubicBezTo>
                      <a:lnTo>
                        <a:pt x="4837" y="17680"/>
                      </a:lnTo>
                      <a:cubicBezTo>
                        <a:pt x="5004" y="17780"/>
                        <a:pt x="5271" y="17880"/>
                        <a:pt x="5537" y="18014"/>
                      </a:cubicBezTo>
                      <a:cubicBezTo>
                        <a:pt x="5771" y="18147"/>
                        <a:pt x="6004" y="18247"/>
                        <a:pt x="6271" y="18314"/>
                      </a:cubicBezTo>
                      <a:lnTo>
                        <a:pt x="6605" y="18447"/>
                      </a:lnTo>
                      <a:cubicBezTo>
                        <a:pt x="6605" y="18447"/>
                        <a:pt x="6705" y="18347"/>
                        <a:pt x="6838" y="18181"/>
                      </a:cubicBezTo>
                      <a:cubicBezTo>
                        <a:pt x="6938" y="18047"/>
                        <a:pt x="7105" y="17847"/>
                        <a:pt x="7272" y="17647"/>
                      </a:cubicBezTo>
                      <a:cubicBezTo>
                        <a:pt x="7439" y="17413"/>
                        <a:pt x="7539" y="17280"/>
                        <a:pt x="7639" y="17113"/>
                      </a:cubicBezTo>
                      <a:cubicBezTo>
                        <a:pt x="7806" y="17180"/>
                        <a:pt x="7973" y="17213"/>
                        <a:pt x="8139" y="17213"/>
                      </a:cubicBezTo>
                      <a:lnTo>
                        <a:pt x="8339" y="17247"/>
                      </a:lnTo>
                      <a:lnTo>
                        <a:pt x="8540" y="17280"/>
                      </a:lnTo>
                      <a:cubicBezTo>
                        <a:pt x="8706" y="17313"/>
                        <a:pt x="8873" y="17313"/>
                        <a:pt x="9040" y="17313"/>
                      </a:cubicBezTo>
                      <a:cubicBezTo>
                        <a:pt x="9107" y="17480"/>
                        <a:pt x="9173" y="17714"/>
                        <a:pt x="9240" y="17914"/>
                      </a:cubicBezTo>
                      <a:cubicBezTo>
                        <a:pt x="9440" y="18414"/>
                        <a:pt x="9674" y="18881"/>
                        <a:pt x="9674" y="18881"/>
                      </a:cubicBezTo>
                      <a:lnTo>
                        <a:pt x="10041" y="18881"/>
                      </a:lnTo>
                      <a:lnTo>
                        <a:pt x="10408" y="18848"/>
                      </a:lnTo>
                      <a:cubicBezTo>
                        <a:pt x="10541" y="18848"/>
                        <a:pt x="10674" y="18814"/>
                        <a:pt x="10808" y="18781"/>
                      </a:cubicBezTo>
                      <a:cubicBezTo>
                        <a:pt x="11075" y="18748"/>
                        <a:pt x="11342" y="18714"/>
                        <a:pt x="11575" y="18648"/>
                      </a:cubicBezTo>
                      <a:lnTo>
                        <a:pt x="11942" y="18581"/>
                      </a:lnTo>
                      <a:cubicBezTo>
                        <a:pt x="11942" y="18581"/>
                        <a:pt x="12009" y="18047"/>
                        <a:pt x="12075" y="17547"/>
                      </a:cubicBezTo>
                      <a:cubicBezTo>
                        <a:pt x="12075" y="17313"/>
                        <a:pt x="12075" y="17080"/>
                        <a:pt x="12075" y="16913"/>
                      </a:cubicBezTo>
                      <a:cubicBezTo>
                        <a:pt x="12276" y="16813"/>
                        <a:pt x="12442" y="16780"/>
                        <a:pt x="12576" y="16713"/>
                      </a:cubicBezTo>
                      <a:lnTo>
                        <a:pt x="12743" y="16646"/>
                      </a:lnTo>
                      <a:lnTo>
                        <a:pt x="12909" y="16546"/>
                      </a:lnTo>
                      <a:cubicBezTo>
                        <a:pt x="13076" y="16479"/>
                        <a:pt x="13243" y="16413"/>
                        <a:pt x="13376" y="16313"/>
                      </a:cubicBezTo>
                      <a:cubicBezTo>
                        <a:pt x="13510" y="16413"/>
                        <a:pt x="13677" y="16579"/>
                        <a:pt x="13877" y="16713"/>
                      </a:cubicBezTo>
                      <a:cubicBezTo>
                        <a:pt x="14277" y="17013"/>
                        <a:pt x="14744" y="17280"/>
                        <a:pt x="14744" y="17280"/>
                      </a:cubicBezTo>
                      <a:lnTo>
                        <a:pt x="15011" y="17080"/>
                      </a:lnTo>
                      <a:cubicBezTo>
                        <a:pt x="15178" y="16946"/>
                        <a:pt x="15445" y="16780"/>
                        <a:pt x="15645" y="16579"/>
                      </a:cubicBezTo>
                      <a:cubicBezTo>
                        <a:pt x="15845" y="16379"/>
                        <a:pt x="16045" y="16212"/>
                        <a:pt x="16212" y="16046"/>
                      </a:cubicBezTo>
                      <a:lnTo>
                        <a:pt x="16445" y="15779"/>
                      </a:lnTo>
                      <a:cubicBezTo>
                        <a:pt x="16445" y="15779"/>
                        <a:pt x="16245" y="15312"/>
                        <a:pt x="16012" y="14845"/>
                      </a:cubicBezTo>
                      <a:cubicBezTo>
                        <a:pt x="15912" y="14645"/>
                        <a:pt x="15778" y="14445"/>
                        <a:pt x="15711" y="14311"/>
                      </a:cubicBezTo>
                      <a:lnTo>
                        <a:pt x="16012" y="13877"/>
                      </a:lnTo>
                      <a:lnTo>
                        <a:pt x="16112" y="13711"/>
                      </a:lnTo>
                      <a:lnTo>
                        <a:pt x="16212" y="13544"/>
                      </a:lnTo>
                      <a:cubicBezTo>
                        <a:pt x="16278" y="13444"/>
                        <a:pt x="16379" y="13310"/>
                        <a:pt x="16479" y="13110"/>
                      </a:cubicBezTo>
                      <a:cubicBezTo>
                        <a:pt x="16645" y="13110"/>
                        <a:pt x="16846" y="13144"/>
                        <a:pt x="17079" y="13144"/>
                      </a:cubicBezTo>
                      <a:cubicBezTo>
                        <a:pt x="17346" y="13177"/>
                        <a:pt x="17613" y="13185"/>
                        <a:pt x="17813" y="13185"/>
                      </a:cubicBezTo>
                      <a:cubicBezTo>
                        <a:pt x="18013" y="13185"/>
                        <a:pt x="18146" y="13177"/>
                        <a:pt x="18146" y="13177"/>
                      </a:cubicBezTo>
                      <a:cubicBezTo>
                        <a:pt x="18146" y="13144"/>
                        <a:pt x="18146" y="13144"/>
                        <a:pt x="18180" y="13110"/>
                      </a:cubicBezTo>
                      <a:cubicBezTo>
                        <a:pt x="18213" y="13044"/>
                        <a:pt x="18213" y="12943"/>
                        <a:pt x="18280" y="12843"/>
                      </a:cubicBezTo>
                      <a:cubicBezTo>
                        <a:pt x="18347" y="12643"/>
                        <a:pt x="18447" y="12376"/>
                        <a:pt x="18513" y="12110"/>
                      </a:cubicBezTo>
                      <a:lnTo>
                        <a:pt x="18714" y="11342"/>
                      </a:lnTo>
                      <a:cubicBezTo>
                        <a:pt x="18747" y="11109"/>
                        <a:pt x="18780" y="10975"/>
                        <a:pt x="18780" y="10975"/>
                      </a:cubicBezTo>
                      <a:cubicBezTo>
                        <a:pt x="18780" y="10975"/>
                        <a:pt x="18347" y="10675"/>
                        <a:pt x="17880" y="10442"/>
                      </a:cubicBezTo>
                      <a:cubicBezTo>
                        <a:pt x="17679" y="10375"/>
                        <a:pt x="17479" y="10242"/>
                        <a:pt x="17313" y="10175"/>
                      </a:cubicBezTo>
                      <a:lnTo>
                        <a:pt x="17346" y="9441"/>
                      </a:lnTo>
                      <a:lnTo>
                        <a:pt x="17313" y="8740"/>
                      </a:lnTo>
                      <a:cubicBezTo>
                        <a:pt x="17479" y="8674"/>
                        <a:pt x="17679" y="8540"/>
                        <a:pt x="17880" y="8440"/>
                      </a:cubicBezTo>
                      <a:cubicBezTo>
                        <a:pt x="18313" y="8207"/>
                        <a:pt x="18747" y="7907"/>
                        <a:pt x="18747" y="7907"/>
                      </a:cubicBezTo>
                      <a:cubicBezTo>
                        <a:pt x="18747" y="7907"/>
                        <a:pt x="18747" y="7773"/>
                        <a:pt x="18714" y="7540"/>
                      </a:cubicBezTo>
                      <a:lnTo>
                        <a:pt x="18513" y="6772"/>
                      </a:lnTo>
                      <a:cubicBezTo>
                        <a:pt x="18447" y="6505"/>
                        <a:pt x="18313" y="6239"/>
                        <a:pt x="18247" y="6038"/>
                      </a:cubicBezTo>
                      <a:cubicBezTo>
                        <a:pt x="18213" y="5938"/>
                        <a:pt x="18180" y="5838"/>
                        <a:pt x="18146" y="5805"/>
                      </a:cubicBezTo>
                      <a:cubicBezTo>
                        <a:pt x="18146" y="5772"/>
                        <a:pt x="18146" y="5738"/>
                        <a:pt x="18113" y="5705"/>
                      </a:cubicBezTo>
                      <a:cubicBezTo>
                        <a:pt x="18113" y="5705"/>
                        <a:pt x="17579" y="5705"/>
                        <a:pt x="17079" y="5738"/>
                      </a:cubicBezTo>
                      <a:cubicBezTo>
                        <a:pt x="16846" y="5738"/>
                        <a:pt x="16645" y="5772"/>
                        <a:pt x="16445" y="5772"/>
                      </a:cubicBezTo>
                      <a:cubicBezTo>
                        <a:pt x="16345" y="5605"/>
                        <a:pt x="16245" y="5438"/>
                        <a:pt x="16178" y="5338"/>
                      </a:cubicBezTo>
                      <a:lnTo>
                        <a:pt x="16112" y="5171"/>
                      </a:lnTo>
                      <a:lnTo>
                        <a:pt x="16012" y="5004"/>
                      </a:lnTo>
                      <a:lnTo>
                        <a:pt x="15711" y="4571"/>
                      </a:lnTo>
                      <a:cubicBezTo>
                        <a:pt x="15778" y="4404"/>
                        <a:pt x="15912" y="4237"/>
                        <a:pt x="16012" y="4037"/>
                      </a:cubicBezTo>
                      <a:cubicBezTo>
                        <a:pt x="16245" y="3570"/>
                        <a:pt x="16445" y="3103"/>
                        <a:pt x="16445" y="3103"/>
                      </a:cubicBezTo>
                      <a:lnTo>
                        <a:pt x="16212" y="2836"/>
                      </a:lnTo>
                      <a:cubicBezTo>
                        <a:pt x="16078" y="2669"/>
                        <a:pt x="15845" y="2469"/>
                        <a:pt x="15645" y="2302"/>
                      </a:cubicBezTo>
                      <a:cubicBezTo>
                        <a:pt x="15445" y="2102"/>
                        <a:pt x="15211" y="1936"/>
                        <a:pt x="15011" y="1802"/>
                      </a:cubicBezTo>
                      <a:lnTo>
                        <a:pt x="14744" y="1569"/>
                      </a:lnTo>
                      <a:cubicBezTo>
                        <a:pt x="14744" y="1569"/>
                        <a:pt x="14277" y="1869"/>
                        <a:pt x="13877" y="2169"/>
                      </a:cubicBezTo>
                      <a:cubicBezTo>
                        <a:pt x="13677" y="2302"/>
                        <a:pt x="13510" y="2436"/>
                        <a:pt x="13376" y="2569"/>
                      </a:cubicBezTo>
                      <a:cubicBezTo>
                        <a:pt x="13243" y="2469"/>
                        <a:pt x="13076" y="2403"/>
                        <a:pt x="12909" y="2336"/>
                      </a:cubicBezTo>
                      <a:lnTo>
                        <a:pt x="12743" y="2236"/>
                      </a:lnTo>
                      <a:lnTo>
                        <a:pt x="12576" y="2169"/>
                      </a:lnTo>
                      <a:cubicBezTo>
                        <a:pt x="12442" y="2102"/>
                        <a:pt x="12276" y="2036"/>
                        <a:pt x="12075" y="1969"/>
                      </a:cubicBezTo>
                      <a:cubicBezTo>
                        <a:pt x="12075" y="1802"/>
                        <a:pt x="12075" y="1569"/>
                        <a:pt x="12075" y="1335"/>
                      </a:cubicBezTo>
                      <a:cubicBezTo>
                        <a:pt x="12009" y="835"/>
                        <a:pt x="11942" y="301"/>
                        <a:pt x="11942" y="301"/>
                      </a:cubicBezTo>
                      <a:lnTo>
                        <a:pt x="11575" y="234"/>
                      </a:lnTo>
                      <a:cubicBezTo>
                        <a:pt x="11342" y="168"/>
                        <a:pt x="11075" y="101"/>
                        <a:pt x="10808" y="68"/>
                      </a:cubicBezTo>
                      <a:cubicBezTo>
                        <a:pt x="10674" y="68"/>
                        <a:pt x="10541" y="34"/>
                        <a:pt x="10408" y="34"/>
                      </a:cubicBezTo>
                      <a:lnTo>
                        <a:pt x="1004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2"/>
                    </a:gs>
                    <a:gs pos="100000">
                      <a:schemeClr val="dk2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" name="Google Shape;108;p15"/>
                <p:cNvSpPr/>
                <p:nvPr/>
              </p:nvSpPr>
              <p:spPr>
                <a:xfrm rot="-1490218">
                  <a:off x="1870916" y="3323079"/>
                  <a:ext cx="525709" cy="5285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81" h="18882" extrusionOk="0">
                      <a:moveTo>
                        <a:pt x="9274" y="3801"/>
                      </a:moveTo>
                      <a:cubicBezTo>
                        <a:pt x="12166" y="3801"/>
                        <a:pt x="14944" y="6056"/>
                        <a:pt x="14944" y="9441"/>
                      </a:cubicBezTo>
                      <a:cubicBezTo>
                        <a:pt x="14944" y="12543"/>
                        <a:pt x="12442" y="15078"/>
                        <a:pt x="9340" y="15078"/>
                      </a:cubicBezTo>
                      <a:lnTo>
                        <a:pt x="9307" y="15078"/>
                      </a:lnTo>
                      <a:cubicBezTo>
                        <a:pt x="4303" y="15078"/>
                        <a:pt x="1801" y="9007"/>
                        <a:pt x="5337" y="5471"/>
                      </a:cubicBezTo>
                      <a:cubicBezTo>
                        <a:pt x="6481" y="4317"/>
                        <a:pt x="7891" y="3801"/>
                        <a:pt x="9274" y="3801"/>
                      </a:cubicBezTo>
                      <a:close/>
                      <a:moveTo>
                        <a:pt x="9674" y="1"/>
                      </a:moveTo>
                      <a:cubicBezTo>
                        <a:pt x="9674" y="1"/>
                        <a:pt x="9440" y="468"/>
                        <a:pt x="9240" y="968"/>
                      </a:cubicBezTo>
                      <a:cubicBezTo>
                        <a:pt x="9173" y="1168"/>
                        <a:pt x="9107" y="1368"/>
                        <a:pt x="9040" y="1569"/>
                      </a:cubicBezTo>
                      <a:cubicBezTo>
                        <a:pt x="8873" y="1569"/>
                        <a:pt x="8706" y="1569"/>
                        <a:pt x="8540" y="1602"/>
                      </a:cubicBezTo>
                      <a:lnTo>
                        <a:pt x="8339" y="1635"/>
                      </a:lnTo>
                      <a:lnTo>
                        <a:pt x="8139" y="1669"/>
                      </a:lnTo>
                      <a:cubicBezTo>
                        <a:pt x="7973" y="1669"/>
                        <a:pt x="7806" y="1702"/>
                        <a:pt x="7639" y="1769"/>
                      </a:cubicBezTo>
                      <a:cubicBezTo>
                        <a:pt x="7539" y="1602"/>
                        <a:pt x="7405" y="1435"/>
                        <a:pt x="7272" y="1235"/>
                      </a:cubicBezTo>
                      <a:cubicBezTo>
                        <a:pt x="7139" y="1068"/>
                        <a:pt x="6938" y="835"/>
                        <a:pt x="6838" y="668"/>
                      </a:cubicBezTo>
                      <a:cubicBezTo>
                        <a:pt x="6705" y="535"/>
                        <a:pt x="6605" y="434"/>
                        <a:pt x="6605" y="434"/>
                      </a:cubicBezTo>
                      <a:lnTo>
                        <a:pt x="6271" y="568"/>
                      </a:lnTo>
                      <a:cubicBezTo>
                        <a:pt x="6004" y="635"/>
                        <a:pt x="5771" y="735"/>
                        <a:pt x="5537" y="835"/>
                      </a:cubicBezTo>
                      <a:cubicBezTo>
                        <a:pt x="5271" y="968"/>
                        <a:pt x="5004" y="1102"/>
                        <a:pt x="4837" y="1202"/>
                      </a:cubicBezTo>
                      <a:lnTo>
                        <a:pt x="4537" y="1402"/>
                      </a:lnTo>
                      <a:cubicBezTo>
                        <a:pt x="4537" y="1402"/>
                        <a:pt x="4570" y="1902"/>
                        <a:pt x="4704" y="2403"/>
                      </a:cubicBezTo>
                      <a:cubicBezTo>
                        <a:pt x="4737" y="2636"/>
                        <a:pt x="4804" y="2870"/>
                        <a:pt x="4837" y="3036"/>
                      </a:cubicBezTo>
                      <a:lnTo>
                        <a:pt x="4437" y="3337"/>
                      </a:lnTo>
                      <a:lnTo>
                        <a:pt x="4270" y="3470"/>
                      </a:lnTo>
                      <a:lnTo>
                        <a:pt x="4136" y="3603"/>
                      </a:lnTo>
                      <a:cubicBezTo>
                        <a:pt x="4003" y="3703"/>
                        <a:pt x="3870" y="3837"/>
                        <a:pt x="3770" y="3970"/>
                      </a:cubicBezTo>
                      <a:cubicBezTo>
                        <a:pt x="3603" y="3904"/>
                        <a:pt x="3403" y="3804"/>
                        <a:pt x="3169" y="3737"/>
                      </a:cubicBezTo>
                      <a:cubicBezTo>
                        <a:pt x="2702" y="3537"/>
                        <a:pt x="2202" y="3403"/>
                        <a:pt x="2202" y="3403"/>
                      </a:cubicBezTo>
                      <a:cubicBezTo>
                        <a:pt x="2168" y="3437"/>
                        <a:pt x="2135" y="3437"/>
                        <a:pt x="2135" y="3470"/>
                      </a:cubicBezTo>
                      <a:cubicBezTo>
                        <a:pt x="2102" y="3537"/>
                        <a:pt x="2035" y="3603"/>
                        <a:pt x="1968" y="3703"/>
                      </a:cubicBezTo>
                      <a:cubicBezTo>
                        <a:pt x="1801" y="3904"/>
                        <a:pt x="1668" y="4104"/>
                        <a:pt x="1501" y="4337"/>
                      </a:cubicBezTo>
                      <a:cubicBezTo>
                        <a:pt x="1368" y="4571"/>
                        <a:pt x="1201" y="4804"/>
                        <a:pt x="1101" y="5004"/>
                      </a:cubicBezTo>
                      <a:lnTo>
                        <a:pt x="934" y="5338"/>
                      </a:lnTo>
                      <a:cubicBezTo>
                        <a:pt x="934" y="5338"/>
                        <a:pt x="1268" y="5738"/>
                        <a:pt x="1635" y="6105"/>
                      </a:cubicBezTo>
                      <a:cubicBezTo>
                        <a:pt x="1801" y="6272"/>
                        <a:pt x="1968" y="6405"/>
                        <a:pt x="2102" y="6539"/>
                      </a:cubicBezTo>
                      <a:cubicBezTo>
                        <a:pt x="2035" y="6739"/>
                        <a:pt x="1968" y="6906"/>
                        <a:pt x="1902" y="7039"/>
                      </a:cubicBezTo>
                      <a:cubicBezTo>
                        <a:pt x="1902" y="7073"/>
                        <a:pt x="1868" y="7106"/>
                        <a:pt x="1868" y="7173"/>
                      </a:cubicBezTo>
                      <a:lnTo>
                        <a:pt x="1868" y="7206"/>
                      </a:lnTo>
                      <a:cubicBezTo>
                        <a:pt x="1868" y="7206"/>
                        <a:pt x="1801" y="7473"/>
                        <a:pt x="1701" y="7907"/>
                      </a:cubicBezTo>
                      <a:cubicBezTo>
                        <a:pt x="1535" y="7940"/>
                        <a:pt x="1301" y="7973"/>
                        <a:pt x="1101" y="8007"/>
                      </a:cubicBezTo>
                      <a:cubicBezTo>
                        <a:pt x="601" y="8140"/>
                        <a:pt x="67" y="8307"/>
                        <a:pt x="67" y="8307"/>
                      </a:cubicBezTo>
                      <a:cubicBezTo>
                        <a:pt x="67" y="8407"/>
                        <a:pt x="34" y="8540"/>
                        <a:pt x="34" y="8640"/>
                      </a:cubicBezTo>
                      <a:cubicBezTo>
                        <a:pt x="34" y="8874"/>
                        <a:pt x="34" y="9141"/>
                        <a:pt x="0" y="9441"/>
                      </a:cubicBezTo>
                      <a:cubicBezTo>
                        <a:pt x="0" y="9741"/>
                        <a:pt x="34" y="10008"/>
                        <a:pt x="34" y="10242"/>
                      </a:cubicBezTo>
                      <a:cubicBezTo>
                        <a:pt x="34" y="10342"/>
                        <a:pt x="67" y="10475"/>
                        <a:pt x="67" y="10575"/>
                      </a:cubicBezTo>
                      <a:cubicBezTo>
                        <a:pt x="67" y="10575"/>
                        <a:pt x="601" y="10742"/>
                        <a:pt x="1101" y="10842"/>
                      </a:cubicBezTo>
                      <a:cubicBezTo>
                        <a:pt x="1301" y="10909"/>
                        <a:pt x="1535" y="10942"/>
                        <a:pt x="1701" y="10975"/>
                      </a:cubicBezTo>
                      <a:cubicBezTo>
                        <a:pt x="1801" y="11376"/>
                        <a:pt x="1868" y="11676"/>
                        <a:pt x="1868" y="11676"/>
                      </a:cubicBezTo>
                      <a:lnTo>
                        <a:pt x="1868" y="11709"/>
                      </a:lnTo>
                      <a:cubicBezTo>
                        <a:pt x="1868" y="11743"/>
                        <a:pt x="1902" y="11809"/>
                        <a:pt x="1902" y="11843"/>
                      </a:cubicBezTo>
                      <a:cubicBezTo>
                        <a:pt x="1968" y="11976"/>
                        <a:pt x="2035" y="12143"/>
                        <a:pt x="2102" y="12343"/>
                      </a:cubicBezTo>
                      <a:cubicBezTo>
                        <a:pt x="1968" y="12443"/>
                        <a:pt x="1801" y="12610"/>
                        <a:pt x="1635" y="12777"/>
                      </a:cubicBezTo>
                      <a:cubicBezTo>
                        <a:pt x="1268" y="13144"/>
                        <a:pt x="934" y="13544"/>
                        <a:pt x="934" y="13544"/>
                      </a:cubicBezTo>
                      <a:lnTo>
                        <a:pt x="1101" y="13877"/>
                      </a:lnTo>
                      <a:cubicBezTo>
                        <a:pt x="1201" y="14044"/>
                        <a:pt x="1334" y="14278"/>
                        <a:pt x="1501" y="14545"/>
                      </a:cubicBezTo>
                      <a:cubicBezTo>
                        <a:pt x="1668" y="14778"/>
                        <a:pt x="1801" y="14978"/>
                        <a:pt x="1968" y="15178"/>
                      </a:cubicBezTo>
                      <a:cubicBezTo>
                        <a:pt x="2035" y="15278"/>
                        <a:pt x="2102" y="15345"/>
                        <a:pt x="2135" y="15379"/>
                      </a:cubicBezTo>
                      <a:cubicBezTo>
                        <a:pt x="2135" y="15412"/>
                        <a:pt x="2168" y="15445"/>
                        <a:pt x="2202" y="15479"/>
                      </a:cubicBezTo>
                      <a:cubicBezTo>
                        <a:pt x="2202" y="15479"/>
                        <a:pt x="2702" y="15312"/>
                        <a:pt x="3169" y="15145"/>
                      </a:cubicBezTo>
                      <a:cubicBezTo>
                        <a:pt x="3403" y="15078"/>
                        <a:pt x="3603" y="14978"/>
                        <a:pt x="3770" y="14912"/>
                      </a:cubicBezTo>
                      <a:cubicBezTo>
                        <a:pt x="3903" y="15078"/>
                        <a:pt x="4036" y="15178"/>
                        <a:pt x="4136" y="15278"/>
                      </a:cubicBezTo>
                      <a:lnTo>
                        <a:pt x="4270" y="15412"/>
                      </a:lnTo>
                      <a:lnTo>
                        <a:pt x="4437" y="15545"/>
                      </a:lnTo>
                      <a:lnTo>
                        <a:pt x="4837" y="15846"/>
                      </a:lnTo>
                      <a:cubicBezTo>
                        <a:pt x="4804" y="16012"/>
                        <a:pt x="4737" y="16246"/>
                        <a:pt x="4704" y="16479"/>
                      </a:cubicBezTo>
                      <a:cubicBezTo>
                        <a:pt x="4570" y="16946"/>
                        <a:pt x="4537" y="17480"/>
                        <a:pt x="4537" y="17480"/>
                      </a:cubicBezTo>
                      <a:lnTo>
                        <a:pt x="4837" y="17680"/>
                      </a:lnTo>
                      <a:cubicBezTo>
                        <a:pt x="5004" y="17780"/>
                        <a:pt x="5271" y="17880"/>
                        <a:pt x="5537" y="18014"/>
                      </a:cubicBezTo>
                      <a:cubicBezTo>
                        <a:pt x="5771" y="18147"/>
                        <a:pt x="6004" y="18247"/>
                        <a:pt x="6271" y="18314"/>
                      </a:cubicBezTo>
                      <a:lnTo>
                        <a:pt x="6605" y="18447"/>
                      </a:lnTo>
                      <a:cubicBezTo>
                        <a:pt x="6605" y="18447"/>
                        <a:pt x="6705" y="18347"/>
                        <a:pt x="6838" y="18181"/>
                      </a:cubicBezTo>
                      <a:cubicBezTo>
                        <a:pt x="6938" y="18047"/>
                        <a:pt x="7105" y="17847"/>
                        <a:pt x="7272" y="17647"/>
                      </a:cubicBezTo>
                      <a:cubicBezTo>
                        <a:pt x="7439" y="17413"/>
                        <a:pt x="7539" y="17280"/>
                        <a:pt x="7639" y="17113"/>
                      </a:cubicBezTo>
                      <a:cubicBezTo>
                        <a:pt x="7806" y="17180"/>
                        <a:pt x="7973" y="17213"/>
                        <a:pt x="8139" y="17213"/>
                      </a:cubicBezTo>
                      <a:lnTo>
                        <a:pt x="8339" y="17247"/>
                      </a:lnTo>
                      <a:lnTo>
                        <a:pt x="8540" y="17280"/>
                      </a:lnTo>
                      <a:cubicBezTo>
                        <a:pt x="8706" y="17313"/>
                        <a:pt x="8873" y="17313"/>
                        <a:pt x="9040" y="17313"/>
                      </a:cubicBezTo>
                      <a:cubicBezTo>
                        <a:pt x="9107" y="17480"/>
                        <a:pt x="9173" y="17714"/>
                        <a:pt x="9240" y="17914"/>
                      </a:cubicBezTo>
                      <a:cubicBezTo>
                        <a:pt x="9440" y="18414"/>
                        <a:pt x="9674" y="18881"/>
                        <a:pt x="9674" y="18881"/>
                      </a:cubicBezTo>
                      <a:lnTo>
                        <a:pt x="10041" y="18881"/>
                      </a:lnTo>
                      <a:lnTo>
                        <a:pt x="10408" y="18848"/>
                      </a:lnTo>
                      <a:cubicBezTo>
                        <a:pt x="10541" y="18848"/>
                        <a:pt x="10674" y="18814"/>
                        <a:pt x="10808" y="18781"/>
                      </a:cubicBezTo>
                      <a:cubicBezTo>
                        <a:pt x="11075" y="18748"/>
                        <a:pt x="11342" y="18714"/>
                        <a:pt x="11575" y="18648"/>
                      </a:cubicBezTo>
                      <a:lnTo>
                        <a:pt x="11942" y="18581"/>
                      </a:lnTo>
                      <a:cubicBezTo>
                        <a:pt x="11942" y="18581"/>
                        <a:pt x="12009" y="18047"/>
                        <a:pt x="12075" y="17547"/>
                      </a:cubicBezTo>
                      <a:cubicBezTo>
                        <a:pt x="12075" y="17313"/>
                        <a:pt x="12075" y="17080"/>
                        <a:pt x="12075" y="16913"/>
                      </a:cubicBezTo>
                      <a:cubicBezTo>
                        <a:pt x="12276" y="16813"/>
                        <a:pt x="12442" y="16780"/>
                        <a:pt x="12576" y="16713"/>
                      </a:cubicBezTo>
                      <a:lnTo>
                        <a:pt x="12743" y="16646"/>
                      </a:lnTo>
                      <a:lnTo>
                        <a:pt x="12909" y="16546"/>
                      </a:lnTo>
                      <a:cubicBezTo>
                        <a:pt x="13076" y="16479"/>
                        <a:pt x="13243" y="16413"/>
                        <a:pt x="13376" y="16313"/>
                      </a:cubicBezTo>
                      <a:cubicBezTo>
                        <a:pt x="13510" y="16413"/>
                        <a:pt x="13677" y="16579"/>
                        <a:pt x="13877" y="16713"/>
                      </a:cubicBezTo>
                      <a:cubicBezTo>
                        <a:pt x="14277" y="17013"/>
                        <a:pt x="14744" y="17280"/>
                        <a:pt x="14744" y="17280"/>
                      </a:cubicBezTo>
                      <a:lnTo>
                        <a:pt x="15011" y="17080"/>
                      </a:lnTo>
                      <a:cubicBezTo>
                        <a:pt x="15178" y="16946"/>
                        <a:pt x="15445" y="16780"/>
                        <a:pt x="15645" y="16579"/>
                      </a:cubicBezTo>
                      <a:cubicBezTo>
                        <a:pt x="15845" y="16379"/>
                        <a:pt x="16045" y="16212"/>
                        <a:pt x="16212" y="16046"/>
                      </a:cubicBezTo>
                      <a:lnTo>
                        <a:pt x="16445" y="15779"/>
                      </a:lnTo>
                      <a:cubicBezTo>
                        <a:pt x="16445" y="15779"/>
                        <a:pt x="16245" y="15312"/>
                        <a:pt x="16012" y="14845"/>
                      </a:cubicBezTo>
                      <a:cubicBezTo>
                        <a:pt x="15912" y="14645"/>
                        <a:pt x="15778" y="14445"/>
                        <a:pt x="15711" y="14311"/>
                      </a:cubicBezTo>
                      <a:lnTo>
                        <a:pt x="16012" y="13877"/>
                      </a:lnTo>
                      <a:lnTo>
                        <a:pt x="16112" y="13711"/>
                      </a:lnTo>
                      <a:lnTo>
                        <a:pt x="16212" y="13544"/>
                      </a:lnTo>
                      <a:cubicBezTo>
                        <a:pt x="16278" y="13444"/>
                        <a:pt x="16379" y="13310"/>
                        <a:pt x="16479" y="13110"/>
                      </a:cubicBezTo>
                      <a:cubicBezTo>
                        <a:pt x="16645" y="13110"/>
                        <a:pt x="16846" y="13144"/>
                        <a:pt x="17079" y="13144"/>
                      </a:cubicBezTo>
                      <a:cubicBezTo>
                        <a:pt x="17346" y="13177"/>
                        <a:pt x="17613" y="13185"/>
                        <a:pt x="17813" y="13185"/>
                      </a:cubicBezTo>
                      <a:cubicBezTo>
                        <a:pt x="18013" y="13185"/>
                        <a:pt x="18146" y="13177"/>
                        <a:pt x="18146" y="13177"/>
                      </a:cubicBezTo>
                      <a:cubicBezTo>
                        <a:pt x="18146" y="13144"/>
                        <a:pt x="18146" y="13144"/>
                        <a:pt x="18180" y="13110"/>
                      </a:cubicBezTo>
                      <a:cubicBezTo>
                        <a:pt x="18213" y="13044"/>
                        <a:pt x="18213" y="12943"/>
                        <a:pt x="18280" y="12843"/>
                      </a:cubicBezTo>
                      <a:cubicBezTo>
                        <a:pt x="18347" y="12643"/>
                        <a:pt x="18447" y="12376"/>
                        <a:pt x="18513" y="12110"/>
                      </a:cubicBezTo>
                      <a:lnTo>
                        <a:pt x="18714" y="11342"/>
                      </a:lnTo>
                      <a:cubicBezTo>
                        <a:pt x="18747" y="11109"/>
                        <a:pt x="18780" y="10975"/>
                        <a:pt x="18780" y="10975"/>
                      </a:cubicBezTo>
                      <a:cubicBezTo>
                        <a:pt x="18780" y="10975"/>
                        <a:pt x="18347" y="10675"/>
                        <a:pt x="17880" y="10442"/>
                      </a:cubicBezTo>
                      <a:cubicBezTo>
                        <a:pt x="17679" y="10375"/>
                        <a:pt x="17479" y="10242"/>
                        <a:pt x="17313" y="10175"/>
                      </a:cubicBezTo>
                      <a:lnTo>
                        <a:pt x="17346" y="9441"/>
                      </a:lnTo>
                      <a:lnTo>
                        <a:pt x="17313" y="8740"/>
                      </a:lnTo>
                      <a:cubicBezTo>
                        <a:pt x="17479" y="8674"/>
                        <a:pt x="17679" y="8540"/>
                        <a:pt x="17880" y="8440"/>
                      </a:cubicBezTo>
                      <a:cubicBezTo>
                        <a:pt x="18313" y="8207"/>
                        <a:pt x="18747" y="7907"/>
                        <a:pt x="18747" y="7907"/>
                      </a:cubicBezTo>
                      <a:cubicBezTo>
                        <a:pt x="18747" y="7907"/>
                        <a:pt x="18747" y="7773"/>
                        <a:pt x="18714" y="7540"/>
                      </a:cubicBezTo>
                      <a:lnTo>
                        <a:pt x="18513" y="6772"/>
                      </a:lnTo>
                      <a:cubicBezTo>
                        <a:pt x="18447" y="6505"/>
                        <a:pt x="18313" y="6239"/>
                        <a:pt x="18247" y="6038"/>
                      </a:cubicBezTo>
                      <a:cubicBezTo>
                        <a:pt x="18213" y="5938"/>
                        <a:pt x="18180" y="5838"/>
                        <a:pt x="18146" y="5805"/>
                      </a:cubicBezTo>
                      <a:cubicBezTo>
                        <a:pt x="18146" y="5772"/>
                        <a:pt x="18146" y="5738"/>
                        <a:pt x="18113" y="5705"/>
                      </a:cubicBezTo>
                      <a:cubicBezTo>
                        <a:pt x="18113" y="5705"/>
                        <a:pt x="17579" y="5705"/>
                        <a:pt x="17079" y="5738"/>
                      </a:cubicBezTo>
                      <a:cubicBezTo>
                        <a:pt x="16846" y="5738"/>
                        <a:pt x="16645" y="5772"/>
                        <a:pt x="16445" y="5772"/>
                      </a:cubicBezTo>
                      <a:cubicBezTo>
                        <a:pt x="16345" y="5605"/>
                        <a:pt x="16245" y="5438"/>
                        <a:pt x="16178" y="5338"/>
                      </a:cubicBezTo>
                      <a:lnTo>
                        <a:pt x="16112" y="5171"/>
                      </a:lnTo>
                      <a:lnTo>
                        <a:pt x="16012" y="5004"/>
                      </a:lnTo>
                      <a:lnTo>
                        <a:pt x="15711" y="4571"/>
                      </a:lnTo>
                      <a:cubicBezTo>
                        <a:pt x="15778" y="4404"/>
                        <a:pt x="15912" y="4237"/>
                        <a:pt x="16012" y="4037"/>
                      </a:cubicBezTo>
                      <a:cubicBezTo>
                        <a:pt x="16245" y="3570"/>
                        <a:pt x="16445" y="3103"/>
                        <a:pt x="16445" y="3103"/>
                      </a:cubicBezTo>
                      <a:lnTo>
                        <a:pt x="16212" y="2836"/>
                      </a:lnTo>
                      <a:cubicBezTo>
                        <a:pt x="16078" y="2669"/>
                        <a:pt x="15845" y="2469"/>
                        <a:pt x="15645" y="2302"/>
                      </a:cubicBezTo>
                      <a:cubicBezTo>
                        <a:pt x="15445" y="2102"/>
                        <a:pt x="15211" y="1936"/>
                        <a:pt x="15011" y="1802"/>
                      </a:cubicBezTo>
                      <a:lnTo>
                        <a:pt x="14744" y="1569"/>
                      </a:lnTo>
                      <a:cubicBezTo>
                        <a:pt x="14744" y="1569"/>
                        <a:pt x="14277" y="1869"/>
                        <a:pt x="13877" y="2169"/>
                      </a:cubicBezTo>
                      <a:cubicBezTo>
                        <a:pt x="13677" y="2302"/>
                        <a:pt x="13510" y="2436"/>
                        <a:pt x="13376" y="2569"/>
                      </a:cubicBezTo>
                      <a:cubicBezTo>
                        <a:pt x="13243" y="2469"/>
                        <a:pt x="13076" y="2403"/>
                        <a:pt x="12909" y="2336"/>
                      </a:cubicBezTo>
                      <a:lnTo>
                        <a:pt x="12743" y="2236"/>
                      </a:lnTo>
                      <a:lnTo>
                        <a:pt x="12576" y="2169"/>
                      </a:lnTo>
                      <a:cubicBezTo>
                        <a:pt x="12442" y="2102"/>
                        <a:pt x="12276" y="2036"/>
                        <a:pt x="12075" y="1969"/>
                      </a:cubicBezTo>
                      <a:cubicBezTo>
                        <a:pt x="12075" y="1802"/>
                        <a:pt x="12075" y="1569"/>
                        <a:pt x="12075" y="1335"/>
                      </a:cubicBezTo>
                      <a:cubicBezTo>
                        <a:pt x="12009" y="835"/>
                        <a:pt x="11942" y="301"/>
                        <a:pt x="11942" y="301"/>
                      </a:cubicBezTo>
                      <a:lnTo>
                        <a:pt x="11575" y="234"/>
                      </a:lnTo>
                      <a:cubicBezTo>
                        <a:pt x="11342" y="168"/>
                        <a:pt x="11075" y="101"/>
                        <a:pt x="10808" y="68"/>
                      </a:cubicBezTo>
                      <a:cubicBezTo>
                        <a:pt x="10674" y="68"/>
                        <a:pt x="10541" y="34"/>
                        <a:pt x="10408" y="34"/>
                      </a:cubicBezTo>
                      <a:lnTo>
                        <a:pt x="10041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09" name="Google Shape;109;p15"/>
              <p:cNvSpPr/>
              <p:nvPr/>
            </p:nvSpPr>
            <p:spPr>
              <a:xfrm>
                <a:off x="1075550" y="2784863"/>
                <a:ext cx="194400" cy="19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15"/>
              <p:cNvSpPr/>
              <p:nvPr/>
            </p:nvSpPr>
            <p:spPr>
              <a:xfrm>
                <a:off x="1662950" y="2144625"/>
                <a:ext cx="194400" cy="194400"/>
              </a:xfrm>
              <a:prstGeom prst="ellipse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15"/>
              <p:cNvSpPr/>
              <p:nvPr/>
            </p:nvSpPr>
            <p:spPr>
              <a:xfrm>
                <a:off x="1857350" y="4034504"/>
                <a:ext cx="97800" cy="97800"/>
              </a:xfrm>
              <a:prstGeom prst="ellipse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lt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15"/>
              <p:cNvSpPr/>
              <p:nvPr/>
            </p:nvSpPr>
            <p:spPr>
              <a:xfrm>
                <a:off x="972475" y="2603225"/>
                <a:ext cx="42300" cy="423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15"/>
              <p:cNvSpPr/>
              <p:nvPr/>
            </p:nvSpPr>
            <p:spPr>
              <a:xfrm>
                <a:off x="1502050" y="4340138"/>
                <a:ext cx="80100" cy="80100"/>
              </a:xfrm>
              <a:prstGeom prst="ellipse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15"/>
              <p:cNvSpPr/>
              <p:nvPr/>
            </p:nvSpPr>
            <p:spPr>
              <a:xfrm>
                <a:off x="2354275" y="4103438"/>
                <a:ext cx="80100" cy="801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5" name="Google Shape;115;p15"/>
            <p:cNvSpPr/>
            <p:nvPr/>
          </p:nvSpPr>
          <p:spPr>
            <a:xfrm flipH="1">
              <a:off x="2323238" y="2634250"/>
              <a:ext cx="381000" cy="495625"/>
            </a:xfrm>
            <a:custGeom>
              <a:avLst/>
              <a:gdLst/>
              <a:ahLst/>
              <a:cxnLst/>
              <a:rect l="l" t="t" r="r" b="b"/>
              <a:pathLst>
                <a:path w="15240" h="19825" extrusionOk="0">
                  <a:moveTo>
                    <a:pt x="13597" y="1"/>
                  </a:moveTo>
                  <a:cubicBezTo>
                    <a:pt x="13347" y="1"/>
                    <a:pt x="13085" y="89"/>
                    <a:pt x="12843" y="294"/>
                  </a:cubicBezTo>
                  <a:lnTo>
                    <a:pt x="4404" y="8733"/>
                  </a:lnTo>
                  <a:lnTo>
                    <a:pt x="4404" y="5698"/>
                  </a:lnTo>
                  <a:cubicBezTo>
                    <a:pt x="4404" y="5298"/>
                    <a:pt x="4304" y="4931"/>
                    <a:pt x="4137" y="4564"/>
                  </a:cubicBezTo>
                  <a:cubicBezTo>
                    <a:pt x="4003" y="4297"/>
                    <a:pt x="3837" y="4063"/>
                    <a:pt x="3636" y="3863"/>
                  </a:cubicBezTo>
                  <a:lnTo>
                    <a:pt x="2702" y="2929"/>
                  </a:lnTo>
                  <a:cubicBezTo>
                    <a:pt x="2452" y="2690"/>
                    <a:pt x="2149" y="2582"/>
                    <a:pt x="1854" y="2582"/>
                  </a:cubicBezTo>
                  <a:cubicBezTo>
                    <a:pt x="1243" y="2582"/>
                    <a:pt x="668" y="3044"/>
                    <a:pt x="668" y="3763"/>
                  </a:cubicBezTo>
                  <a:cubicBezTo>
                    <a:pt x="668" y="4063"/>
                    <a:pt x="801" y="4364"/>
                    <a:pt x="1035" y="4597"/>
                  </a:cubicBezTo>
                  <a:lnTo>
                    <a:pt x="1268" y="4831"/>
                  </a:lnTo>
                  <a:cubicBezTo>
                    <a:pt x="1735" y="5331"/>
                    <a:pt x="2035" y="5998"/>
                    <a:pt x="2035" y="6699"/>
                  </a:cubicBezTo>
                  <a:lnTo>
                    <a:pt x="0" y="14104"/>
                  </a:lnTo>
                  <a:cubicBezTo>
                    <a:pt x="0" y="14704"/>
                    <a:pt x="234" y="15271"/>
                    <a:pt x="668" y="15705"/>
                  </a:cubicBezTo>
                  <a:lnTo>
                    <a:pt x="4137" y="19174"/>
                  </a:lnTo>
                  <a:cubicBezTo>
                    <a:pt x="4587" y="19608"/>
                    <a:pt x="5171" y="19825"/>
                    <a:pt x="5750" y="19825"/>
                  </a:cubicBezTo>
                  <a:cubicBezTo>
                    <a:pt x="6330" y="19825"/>
                    <a:pt x="6905" y="19608"/>
                    <a:pt x="7339" y="19174"/>
                  </a:cubicBezTo>
                  <a:lnTo>
                    <a:pt x="13177" y="13337"/>
                  </a:lnTo>
                  <a:cubicBezTo>
                    <a:pt x="13410" y="13103"/>
                    <a:pt x="13510" y="12803"/>
                    <a:pt x="13510" y="12503"/>
                  </a:cubicBezTo>
                  <a:cubicBezTo>
                    <a:pt x="13510" y="11784"/>
                    <a:pt x="12935" y="11307"/>
                    <a:pt x="12335" y="11307"/>
                  </a:cubicBezTo>
                  <a:cubicBezTo>
                    <a:pt x="12044" y="11307"/>
                    <a:pt x="11748" y="11418"/>
                    <a:pt x="11509" y="11669"/>
                  </a:cubicBezTo>
                  <a:lnTo>
                    <a:pt x="12176" y="10968"/>
                  </a:lnTo>
                  <a:cubicBezTo>
                    <a:pt x="13186" y="10135"/>
                    <a:pt x="12361" y="8843"/>
                    <a:pt x="11408" y="8843"/>
                  </a:cubicBezTo>
                  <a:cubicBezTo>
                    <a:pt x="11210" y="8843"/>
                    <a:pt x="11006" y="8899"/>
                    <a:pt x="10811" y="9027"/>
                  </a:cubicBezTo>
                  <a:lnTo>
                    <a:pt x="10811" y="9027"/>
                  </a:lnTo>
                  <a:lnTo>
                    <a:pt x="10842" y="9000"/>
                  </a:lnTo>
                  <a:cubicBezTo>
                    <a:pt x="11542" y="8119"/>
                    <a:pt x="10811" y="7035"/>
                    <a:pt x="9933" y="7035"/>
                  </a:cubicBezTo>
                  <a:cubicBezTo>
                    <a:pt x="9682" y="7035"/>
                    <a:pt x="9419" y="7124"/>
                    <a:pt x="9174" y="7332"/>
                  </a:cubicBezTo>
                  <a:lnTo>
                    <a:pt x="14511" y="1962"/>
                  </a:lnTo>
                  <a:cubicBezTo>
                    <a:pt x="15239" y="1103"/>
                    <a:pt x="14486" y="1"/>
                    <a:pt x="13597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" name="Google Shape;116;p15"/>
          <p:cNvGrpSpPr/>
          <p:nvPr/>
        </p:nvGrpSpPr>
        <p:grpSpPr>
          <a:xfrm>
            <a:off x="6973673" y="693655"/>
            <a:ext cx="2059600" cy="2523048"/>
            <a:chOff x="2962600" y="1787438"/>
            <a:chExt cx="2059600" cy="2523048"/>
          </a:xfrm>
        </p:grpSpPr>
        <p:sp>
          <p:nvSpPr>
            <p:cNvPr id="117" name="Google Shape;117;p15"/>
            <p:cNvSpPr/>
            <p:nvPr/>
          </p:nvSpPr>
          <p:spPr>
            <a:xfrm>
              <a:off x="3488800" y="2222313"/>
              <a:ext cx="1161675" cy="555400"/>
            </a:xfrm>
            <a:custGeom>
              <a:avLst/>
              <a:gdLst/>
              <a:ahLst/>
              <a:cxnLst/>
              <a:rect l="l" t="t" r="r" b="b"/>
              <a:pathLst>
                <a:path w="46467" h="22216" extrusionOk="0">
                  <a:moveTo>
                    <a:pt x="24418" y="0"/>
                  </a:moveTo>
                  <a:cubicBezTo>
                    <a:pt x="17713" y="33"/>
                    <a:pt x="12042" y="5004"/>
                    <a:pt x="11175" y="11675"/>
                  </a:cubicBezTo>
                  <a:cubicBezTo>
                    <a:pt x="10975" y="11675"/>
                    <a:pt x="10808" y="11642"/>
                    <a:pt x="10608" y="11642"/>
                  </a:cubicBezTo>
                  <a:cubicBezTo>
                    <a:pt x="4737" y="11642"/>
                    <a:pt x="0" y="16378"/>
                    <a:pt x="0" y="22216"/>
                  </a:cubicBezTo>
                  <a:lnTo>
                    <a:pt x="46233" y="22216"/>
                  </a:lnTo>
                  <a:cubicBezTo>
                    <a:pt x="46367" y="21582"/>
                    <a:pt x="46467" y="20915"/>
                    <a:pt x="46467" y="20248"/>
                  </a:cubicBezTo>
                  <a:cubicBezTo>
                    <a:pt x="46467" y="15511"/>
                    <a:pt x="42598" y="11642"/>
                    <a:pt x="37827" y="11642"/>
                  </a:cubicBezTo>
                  <a:lnTo>
                    <a:pt x="37694" y="11642"/>
                  </a:lnTo>
                  <a:cubicBezTo>
                    <a:pt x="36827" y="4970"/>
                    <a:pt x="31156" y="0"/>
                    <a:pt x="2441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4188475" y="2631763"/>
              <a:ext cx="74225" cy="467850"/>
            </a:xfrm>
            <a:custGeom>
              <a:avLst/>
              <a:gdLst/>
              <a:ahLst/>
              <a:cxnLst/>
              <a:rect l="l" t="t" r="r" b="b"/>
              <a:pathLst>
                <a:path w="2969" h="18714" extrusionOk="0">
                  <a:moveTo>
                    <a:pt x="0" y="0"/>
                  </a:moveTo>
                  <a:lnTo>
                    <a:pt x="0" y="15245"/>
                  </a:lnTo>
                  <a:lnTo>
                    <a:pt x="1468" y="18714"/>
                  </a:lnTo>
                  <a:lnTo>
                    <a:pt x="2969" y="15245"/>
                  </a:lnTo>
                  <a:lnTo>
                    <a:pt x="2969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3904100" y="2545038"/>
              <a:ext cx="75075" cy="467850"/>
            </a:xfrm>
            <a:custGeom>
              <a:avLst/>
              <a:gdLst/>
              <a:ahLst/>
              <a:cxnLst/>
              <a:rect l="l" t="t" r="r" b="b"/>
              <a:pathLst>
                <a:path w="3003" h="18714" extrusionOk="0">
                  <a:moveTo>
                    <a:pt x="1501" y="0"/>
                  </a:moveTo>
                  <a:lnTo>
                    <a:pt x="0" y="3469"/>
                  </a:lnTo>
                  <a:lnTo>
                    <a:pt x="0" y="18714"/>
                  </a:lnTo>
                  <a:lnTo>
                    <a:pt x="3002" y="18714"/>
                  </a:lnTo>
                  <a:lnTo>
                    <a:pt x="3002" y="3469"/>
                  </a:lnTo>
                  <a:lnTo>
                    <a:pt x="1501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5"/>
            <p:cNvSpPr/>
            <p:nvPr/>
          </p:nvSpPr>
          <p:spPr>
            <a:xfrm>
              <a:off x="2962600" y="2574213"/>
              <a:ext cx="1161675" cy="555425"/>
            </a:xfrm>
            <a:custGeom>
              <a:avLst/>
              <a:gdLst/>
              <a:ahLst/>
              <a:cxnLst/>
              <a:rect l="l" t="t" r="r" b="b"/>
              <a:pathLst>
                <a:path w="46467" h="22217" extrusionOk="0">
                  <a:moveTo>
                    <a:pt x="24417" y="1"/>
                  </a:moveTo>
                  <a:cubicBezTo>
                    <a:pt x="17713" y="1"/>
                    <a:pt x="12042" y="4971"/>
                    <a:pt x="11175" y="11609"/>
                  </a:cubicBezTo>
                  <a:lnTo>
                    <a:pt x="10574" y="11609"/>
                  </a:lnTo>
                  <a:cubicBezTo>
                    <a:pt x="4737" y="11609"/>
                    <a:pt x="0" y="16346"/>
                    <a:pt x="0" y="22217"/>
                  </a:cubicBezTo>
                  <a:lnTo>
                    <a:pt x="46233" y="22217"/>
                  </a:lnTo>
                  <a:cubicBezTo>
                    <a:pt x="46366" y="21583"/>
                    <a:pt x="46433" y="20916"/>
                    <a:pt x="46467" y="20249"/>
                  </a:cubicBezTo>
                  <a:cubicBezTo>
                    <a:pt x="46467" y="15479"/>
                    <a:pt x="42597" y="11609"/>
                    <a:pt x="37827" y="11609"/>
                  </a:cubicBezTo>
                  <a:lnTo>
                    <a:pt x="37694" y="11609"/>
                  </a:lnTo>
                  <a:cubicBezTo>
                    <a:pt x="36826" y="4971"/>
                    <a:pt x="31156" y="1"/>
                    <a:pt x="2441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3491300" y="2730163"/>
              <a:ext cx="194325" cy="158475"/>
            </a:xfrm>
            <a:custGeom>
              <a:avLst/>
              <a:gdLst/>
              <a:ahLst/>
              <a:cxnLst/>
              <a:rect l="l" t="t" r="r" b="b"/>
              <a:pathLst>
                <a:path w="7773" h="6339" fill="none" extrusionOk="0">
                  <a:moveTo>
                    <a:pt x="0" y="2302"/>
                  </a:moveTo>
                  <a:cubicBezTo>
                    <a:pt x="3269" y="1"/>
                    <a:pt x="7773" y="2302"/>
                    <a:pt x="7773" y="6339"/>
                  </a:cubicBezTo>
                </a:path>
              </a:pathLst>
            </a:custGeom>
            <a:solidFill>
              <a:schemeClr val="lt1"/>
            </a:solidFill>
            <a:ln w="3170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3452100" y="2751838"/>
              <a:ext cx="80075" cy="82600"/>
            </a:xfrm>
            <a:custGeom>
              <a:avLst/>
              <a:gdLst/>
              <a:ahLst/>
              <a:cxnLst/>
              <a:rect l="l" t="t" r="r" b="b"/>
              <a:pathLst>
                <a:path w="3203" h="3304" extrusionOk="0">
                  <a:moveTo>
                    <a:pt x="735" y="1"/>
                  </a:moveTo>
                  <a:lnTo>
                    <a:pt x="1" y="3303"/>
                  </a:lnTo>
                  <a:lnTo>
                    <a:pt x="3203" y="2303"/>
                  </a:lnTo>
                  <a:lnTo>
                    <a:pt x="7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3452100" y="2875263"/>
              <a:ext cx="194325" cy="158475"/>
            </a:xfrm>
            <a:custGeom>
              <a:avLst/>
              <a:gdLst/>
              <a:ahLst/>
              <a:cxnLst/>
              <a:rect l="l" t="t" r="r" b="b"/>
              <a:pathLst>
                <a:path w="7773" h="6339" fill="none" extrusionOk="0">
                  <a:moveTo>
                    <a:pt x="7773" y="4037"/>
                  </a:moveTo>
                  <a:cubicBezTo>
                    <a:pt x="4504" y="6339"/>
                    <a:pt x="1" y="4037"/>
                    <a:pt x="1" y="1"/>
                  </a:cubicBezTo>
                </a:path>
              </a:pathLst>
            </a:custGeom>
            <a:solidFill>
              <a:schemeClr val="lt1"/>
            </a:solidFill>
            <a:ln w="3170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3605550" y="2929488"/>
              <a:ext cx="80075" cy="82575"/>
            </a:xfrm>
            <a:custGeom>
              <a:avLst/>
              <a:gdLst/>
              <a:ahLst/>
              <a:cxnLst/>
              <a:rect l="l" t="t" r="r" b="b"/>
              <a:pathLst>
                <a:path w="3203" h="3303" extrusionOk="0">
                  <a:moveTo>
                    <a:pt x="3203" y="0"/>
                  </a:moveTo>
                  <a:lnTo>
                    <a:pt x="0" y="1001"/>
                  </a:lnTo>
                  <a:lnTo>
                    <a:pt x="2469" y="3302"/>
                  </a:lnTo>
                  <a:lnTo>
                    <a:pt x="32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3481113" y="3343700"/>
              <a:ext cx="381000" cy="495625"/>
            </a:xfrm>
            <a:custGeom>
              <a:avLst/>
              <a:gdLst/>
              <a:ahLst/>
              <a:cxnLst/>
              <a:rect l="l" t="t" r="r" b="b"/>
              <a:pathLst>
                <a:path w="15240" h="19825" extrusionOk="0">
                  <a:moveTo>
                    <a:pt x="13597" y="1"/>
                  </a:moveTo>
                  <a:cubicBezTo>
                    <a:pt x="13347" y="1"/>
                    <a:pt x="13085" y="89"/>
                    <a:pt x="12843" y="294"/>
                  </a:cubicBezTo>
                  <a:lnTo>
                    <a:pt x="4404" y="8733"/>
                  </a:lnTo>
                  <a:lnTo>
                    <a:pt x="4404" y="5698"/>
                  </a:lnTo>
                  <a:cubicBezTo>
                    <a:pt x="4404" y="5298"/>
                    <a:pt x="4304" y="4931"/>
                    <a:pt x="4137" y="4564"/>
                  </a:cubicBezTo>
                  <a:cubicBezTo>
                    <a:pt x="4003" y="4297"/>
                    <a:pt x="3837" y="4063"/>
                    <a:pt x="3636" y="3863"/>
                  </a:cubicBezTo>
                  <a:lnTo>
                    <a:pt x="2702" y="2929"/>
                  </a:lnTo>
                  <a:cubicBezTo>
                    <a:pt x="2452" y="2690"/>
                    <a:pt x="2149" y="2582"/>
                    <a:pt x="1854" y="2582"/>
                  </a:cubicBezTo>
                  <a:cubicBezTo>
                    <a:pt x="1243" y="2582"/>
                    <a:pt x="668" y="3044"/>
                    <a:pt x="668" y="3763"/>
                  </a:cubicBezTo>
                  <a:cubicBezTo>
                    <a:pt x="668" y="4063"/>
                    <a:pt x="801" y="4364"/>
                    <a:pt x="1035" y="4597"/>
                  </a:cubicBezTo>
                  <a:lnTo>
                    <a:pt x="1268" y="4831"/>
                  </a:lnTo>
                  <a:cubicBezTo>
                    <a:pt x="1735" y="5331"/>
                    <a:pt x="2035" y="5998"/>
                    <a:pt x="2035" y="6699"/>
                  </a:cubicBezTo>
                  <a:lnTo>
                    <a:pt x="0" y="14104"/>
                  </a:lnTo>
                  <a:cubicBezTo>
                    <a:pt x="0" y="14704"/>
                    <a:pt x="234" y="15271"/>
                    <a:pt x="668" y="15705"/>
                  </a:cubicBezTo>
                  <a:lnTo>
                    <a:pt x="4137" y="19174"/>
                  </a:lnTo>
                  <a:cubicBezTo>
                    <a:pt x="4587" y="19608"/>
                    <a:pt x="5171" y="19825"/>
                    <a:pt x="5750" y="19825"/>
                  </a:cubicBezTo>
                  <a:cubicBezTo>
                    <a:pt x="6330" y="19825"/>
                    <a:pt x="6905" y="19608"/>
                    <a:pt x="7339" y="19174"/>
                  </a:cubicBezTo>
                  <a:lnTo>
                    <a:pt x="13177" y="13337"/>
                  </a:lnTo>
                  <a:cubicBezTo>
                    <a:pt x="13410" y="13103"/>
                    <a:pt x="13510" y="12803"/>
                    <a:pt x="13510" y="12503"/>
                  </a:cubicBezTo>
                  <a:cubicBezTo>
                    <a:pt x="13510" y="11784"/>
                    <a:pt x="12935" y="11307"/>
                    <a:pt x="12335" y="11307"/>
                  </a:cubicBezTo>
                  <a:cubicBezTo>
                    <a:pt x="12044" y="11307"/>
                    <a:pt x="11748" y="11418"/>
                    <a:pt x="11509" y="11669"/>
                  </a:cubicBezTo>
                  <a:lnTo>
                    <a:pt x="12176" y="10968"/>
                  </a:lnTo>
                  <a:cubicBezTo>
                    <a:pt x="13186" y="10135"/>
                    <a:pt x="12361" y="8843"/>
                    <a:pt x="11408" y="8843"/>
                  </a:cubicBezTo>
                  <a:cubicBezTo>
                    <a:pt x="11210" y="8843"/>
                    <a:pt x="11006" y="8899"/>
                    <a:pt x="10811" y="9027"/>
                  </a:cubicBezTo>
                  <a:lnTo>
                    <a:pt x="10811" y="9027"/>
                  </a:lnTo>
                  <a:lnTo>
                    <a:pt x="10842" y="9000"/>
                  </a:lnTo>
                  <a:cubicBezTo>
                    <a:pt x="11542" y="8119"/>
                    <a:pt x="10811" y="7035"/>
                    <a:pt x="9933" y="7035"/>
                  </a:cubicBezTo>
                  <a:cubicBezTo>
                    <a:pt x="9682" y="7035"/>
                    <a:pt x="9419" y="7124"/>
                    <a:pt x="9174" y="7332"/>
                  </a:cubicBezTo>
                  <a:lnTo>
                    <a:pt x="14511" y="1962"/>
                  </a:lnTo>
                  <a:cubicBezTo>
                    <a:pt x="15239" y="1103"/>
                    <a:pt x="14486" y="1"/>
                    <a:pt x="13597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6" name="Google Shape;126;p15"/>
            <p:cNvGrpSpPr/>
            <p:nvPr/>
          </p:nvGrpSpPr>
          <p:grpSpPr>
            <a:xfrm>
              <a:off x="4068550" y="3518650"/>
              <a:ext cx="503452" cy="791836"/>
              <a:chOff x="6398413" y="1345150"/>
              <a:chExt cx="503452" cy="791836"/>
            </a:xfrm>
          </p:grpSpPr>
          <p:sp>
            <p:nvSpPr>
              <p:cNvPr id="127" name="Google Shape;127;p15"/>
              <p:cNvSpPr/>
              <p:nvPr/>
            </p:nvSpPr>
            <p:spPr>
              <a:xfrm>
                <a:off x="6450067" y="1345150"/>
                <a:ext cx="402560" cy="348494"/>
              </a:xfrm>
              <a:custGeom>
                <a:avLst/>
                <a:gdLst/>
                <a:ahLst/>
                <a:cxnLst/>
                <a:rect l="l" t="t" r="r" b="b"/>
                <a:pathLst>
                  <a:path w="11176" h="9675" extrusionOk="0">
                    <a:moveTo>
                      <a:pt x="5571" y="0"/>
                    </a:moveTo>
                    <a:cubicBezTo>
                      <a:pt x="2569" y="0"/>
                      <a:pt x="67" y="2402"/>
                      <a:pt x="1" y="5438"/>
                    </a:cubicBezTo>
                    <a:lnTo>
                      <a:pt x="1" y="9674"/>
                    </a:lnTo>
                    <a:lnTo>
                      <a:pt x="1969" y="9674"/>
                    </a:lnTo>
                    <a:lnTo>
                      <a:pt x="1969" y="5438"/>
                    </a:lnTo>
                    <a:cubicBezTo>
                      <a:pt x="1969" y="3436"/>
                      <a:pt x="3603" y="1835"/>
                      <a:pt x="5571" y="1835"/>
                    </a:cubicBezTo>
                    <a:cubicBezTo>
                      <a:pt x="7573" y="1835"/>
                      <a:pt x="9174" y="3436"/>
                      <a:pt x="9207" y="5438"/>
                    </a:cubicBezTo>
                    <a:lnTo>
                      <a:pt x="9207" y="9674"/>
                    </a:lnTo>
                    <a:lnTo>
                      <a:pt x="11175" y="9674"/>
                    </a:lnTo>
                    <a:lnTo>
                      <a:pt x="11175" y="5438"/>
                    </a:lnTo>
                    <a:cubicBezTo>
                      <a:pt x="11075" y="2402"/>
                      <a:pt x="8607" y="0"/>
                      <a:pt x="557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15"/>
              <p:cNvSpPr/>
              <p:nvPr/>
            </p:nvSpPr>
            <p:spPr>
              <a:xfrm>
                <a:off x="6398413" y="1633534"/>
                <a:ext cx="503452" cy="503452"/>
              </a:xfrm>
              <a:custGeom>
                <a:avLst/>
                <a:gdLst/>
                <a:ahLst/>
                <a:cxnLst/>
                <a:rect l="l" t="t" r="r" b="b"/>
                <a:pathLst>
                  <a:path w="13977" h="13977" extrusionOk="0">
                    <a:moveTo>
                      <a:pt x="0" y="0"/>
                    </a:moveTo>
                    <a:lnTo>
                      <a:pt x="0" y="13977"/>
                    </a:lnTo>
                    <a:lnTo>
                      <a:pt x="13977" y="13977"/>
                    </a:lnTo>
                    <a:lnTo>
                      <a:pt x="1397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lt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15"/>
              <p:cNvSpPr/>
              <p:nvPr/>
            </p:nvSpPr>
            <p:spPr>
              <a:xfrm>
                <a:off x="6559426" y="1757302"/>
                <a:ext cx="159821" cy="136696"/>
              </a:xfrm>
              <a:custGeom>
                <a:avLst/>
                <a:gdLst/>
                <a:ahLst/>
                <a:cxnLst/>
                <a:rect l="l" t="t" r="r" b="b"/>
                <a:pathLst>
                  <a:path w="4437" h="3795" extrusionOk="0">
                    <a:moveTo>
                      <a:pt x="2535" y="0"/>
                    </a:moveTo>
                    <a:cubicBezTo>
                      <a:pt x="834" y="0"/>
                      <a:pt x="0" y="2035"/>
                      <a:pt x="1168" y="3236"/>
                    </a:cubicBezTo>
                    <a:cubicBezTo>
                      <a:pt x="1554" y="3622"/>
                      <a:pt x="2031" y="3795"/>
                      <a:pt x="2500" y="3795"/>
                    </a:cubicBezTo>
                    <a:cubicBezTo>
                      <a:pt x="3486" y="3795"/>
                      <a:pt x="4437" y="3032"/>
                      <a:pt x="4437" y="1901"/>
                    </a:cubicBezTo>
                    <a:cubicBezTo>
                      <a:pt x="4437" y="834"/>
                      <a:pt x="3569" y="0"/>
                      <a:pt x="25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15"/>
              <p:cNvSpPr/>
              <p:nvPr/>
            </p:nvSpPr>
            <p:spPr>
              <a:xfrm>
                <a:off x="6625489" y="1836585"/>
                <a:ext cx="50500" cy="159857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4438" extrusionOk="0">
                    <a:moveTo>
                      <a:pt x="1" y="1"/>
                    </a:moveTo>
                    <a:lnTo>
                      <a:pt x="1" y="3837"/>
                    </a:lnTo>
                    <a:cubicBezTo>
                      <a:pt x="1" y="4170"/>
                      <a:pt x="268" y="4437"/>
                      <a:pt x="568" y="4437"/>
                    </a:cubicBezTo>
                    <a:lnTo>
                      <a:pt x="801" y="4437"/>
                    </a:lnTo>
                    <a:cubicBezTo>
                      <a:pt x="1135" y="4437"/>
                      <a:pt x="1402" y="4170"/>
                      <a:pt x="1402" y="3837"/>
                    </a:cubicBezTo>
                    <a:lnTo>
                      <a:pt x="140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1" name="Google Shape;131;p15"/>
            <p:cNvSpPr/>
            <p:nvPr/>
          </p:nvSpPr>
          <p:spPr>
            <a:xfrm>
              <a:off x="3257525" y="3245904"/>
              <a:ext cx="97800" cy="9780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4650475" y="2222325"/>
              <a:ext cx="194400" cy="194400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3063125" y="2222313"/>
              <a:ext cx="194400" cy="194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3979175" y="3518650"/>
              <a:ext cx="42300" cy="42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4924400" y="4183554"/>
              <a:ext cx="97800" cy="97800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5"/>
            <p:cNvSpPr/>
            <p:nvPr/>
          </p:nvSpPr>
          <p:spPr>
            <a:xfrm>
              <a:off x="3740425" y="1787438"/>
              <a:ext cx="80100" cy="80100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5"/>
            <p:cNvSpPr/>
            <p:nvPr/>
          </p:nvSpPr>
          <p:spPr>
            <a:xfrm>
              <a:off x="3276975" y="4043338"/>
              <a:ext cx="80100" cy="801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8E82998-72BE-3093-E581-D4F4F4CE8E43}"/>
              </a:ext>
            </a:extLst>
          </p:cNvPr>
          <p:cNvSpPr txBox="1"/>
          <p:nvPr/>
        </p:nvSpPr>
        <p:spPr>
          <a:xfrm>
            <a:off x="425731" y="3335371"/>
            <a:ext cx="74894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Objective</a:t>
            </a:r>
            <a:r>
              <a:rPr lang="en-US" dirty="0"/>
              <a:t>: </a:t>
            </a:r>
            <a:r>
              <a:rPr lang="en-US" dirty="0">
                <a:solidFill>
                  <a:schemeClr val="tx1"/>
                </a:solidFill>
              </a:rPr>
              <a:t>To extract meaningful insights about patients, doctors, and treatments using advanced SQL techniques to improve healthcare management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B7BEB0-1982-3CCB-6FAF-BA98DA7FF565}"/>
              </a:ext>
            </a:extLst>
          </p:cNvPr>
          <p:cNvSpPr txBox="1"/>
          <p:nvPr/>
        </p:nvSpPr>
        <p:spPr>
          <a:xfrm>
            <a:off x="425731" y="3997619"/>
            <a:ext cx="65161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Key Focus</a:t>
            </a:r>
            <a:r>
              <a:rPr lang="en-US" dirty="0"/>
              <a:t>: </a:t>
            </a:r>
            <a:r>
              <a:rPr lang="en-US" dirty="0">
                <a:solidFill>
                  <a:schemeClr val="tx1"/>
                </a:solidFill>
              </a:rPr>
              <a:t>Data integrity, relationship mapping, and clinical reporting</a:t>
            </a:r>
            <a:r>
              <a:rPr lang="en-US" dirty="0"/>
              <a:t>.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9"/>
          <p:cNvSpPr/>
          <p:nvPr/>
        </p:nvSpPr>
        <p:spPr>
          <a:xfrm>
            <a:off x="690261" y="2122739"/>
            <a:ext cx="695400" cy="695400"/>
          </a:xfrm>
          <a:prstGeom prst="donut">
            <a:avLst>
              <a:gd name="adj" fmla="val 1714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9"/>
          <p:cNvSpPr/>
          <p:nvPr/>
        </p:nvSpPr>
        <p:spPr>
          <a:xfrm rot="5400000">
            <a:off x="689211" y="2121689"/>
            <a:ext cx="697500" cy="697500"/>
          </a:xfrm>
          <a:prstGeom prst="blockArc">
            <a:avLst>
              <a:gd name="adj1" fmla="val 10774288"/>
              <a:gd name="adj2" fmla="val 2327715"/>
              <a:gd name="adj3" fmla="val 17441"/>
            </a:avLst>
          </a:prstGeom>
          <a:gradFill>
            <a:gsLst>
              <a:gs pos="0">
                <a:schemeClr val="accent1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9"/>
          <p:cNvSpPr/>
          <p:nvPr/>
        </p:nvSpPr>
        <p:spPr>
          <a:xfrm>
            <a:off x="711244" y="3078491"/>
            <a:ext cx="695400" cy="695400"/>
          </a:xfrm>
          <a:prstGeom prst="donut">
            <a:avLst>
              <a:gd name="adj" fmla="val 1714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9"/>
          <p:cNvSpPr/>
          <p:nvPr/>
        </p:nvSpPr>
        <p:spPr>
          <a:xfrm rot="5400000">
            <a:off x="710194" y="3077441"/>
            <a:ext cx="697500" cy="697500"/>
          </a:xfrm>
          <a:prstGeom prst="blockArc">
            <a:avLst>
              <a:gd name="adj1" fmla="val 10774288"/>
              <a:gd name="adj2" fmla="val 19093805"/>
              <a:gd name="adj3" fmla="val 17547"/>
            </a:avLst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9C71DD8-B286-3F7F-053B-C5B0858F8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671" y="-44779"/>
            <a:ext cx="7661162" cy="644989"/>
          </a:xfrm>
        </p:spPr>
        <p:txBody>
          <a:bodyPr/>
          <a:lstStyle/>
          <a:p>
            <a:pPr algn="ctr"/>
            <a:r>
              <a:rPr lang="en-IN" sz="3800" b="1" dirty="0"/>
              <a:t>Database Architecture</a:t>
            </a:r>
            <a:endParaRPr lang="en-IN" sz="3800" dirty="0"/>
          </a:p>
        </p:txBody>
      </p:sp>
      <p:sp>
        <p:nvSpPr>
          <p:cNvPr id="5" name="Google Shape;338;p19">
            <a:extLst>
              <a:ext uri="{FF2B5EF4-FFF2-40B4-BE49-F238E27FC236}">
                <a16:creationId xmlns:a16="http://schemas.microsoft.com/office/drawing/2014/main" id="{1D788DA0-891F-B437-05FD-594DA0AE537A}"/>
              </a:ext>
            </a:extLst>
          </p:cNvPr>
          <p:cNvSpPr/>
          <p:nvPr/>
        </p:nvSpPr>
        <p:spPr>
          <a:xfrm>
            <a:off x="696982" y="1095185"/>
            <a:ext cx="695400" cy="695400"/>
          </a:xfrm>
          <a:prstGeom prst="donut">
            <a:avLst>
              <a:gd name="adj" fmla="val 1714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339;p19">
            <a:extLst>
              <a:ext uri="{FF2B5EF4-FFF2-40B4-BE49-F238E27FC236}">
                <a16:creationId xmlns:a16="http://schemas.microsoft.com/office/drawing/2014/main" id="{245AC742-2FED-4CC8-6ECB-C0A47FE4ABB3}"/>
              </a:ext>
            </a:extLst>
          </p:cNvPr>
          <p:cNvSpPr/>
          <p:nvPr/>
        </p:nvSpPr>
        <p:spPr>
          <a:xfrm rot="5400000">
            <a:off x="695932" y="1094135"/>
            <a:ext cx="697500" cy="697500"/>
          </a:xfrm>
          <a:prstGeom prst="blockArc">
            <a:avLst>
              <a:gd name="adj1" fmla="val 10774288"/>
              <a:gd name="adj2" fmla="val 19093805"/>
              <a:gd name="adj3" fmla="val 17547"/>
            </a:avLst>
          </a:prstGeom>
          <a:solidFill>
            <a:schemeClr val="bg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341;p19">
            <a:extLst>
              <a:ext uri="{FF2B5EF4-FFF2-40B4-BE49-F238E27FC236}">
                <a16:creationId xmlns:a16="http://schemas.microsoft.com/office/drawing/2014/main" id="{8BCF73D9-45D9-EE4C-D885-9AAC1A247AC8}"/>
              </a:ext>
            </a:extLst>
          </p:cNvPr>
          <p:cNvSpPr txBox="1"/>
          <p:nvPr/>
        </p:nvSpPr>
        <p:spPr>
          <a:xfrm flipH="1">
            <a:off x="1419443" y="1179998"/>
            <a:ext cx="3101091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b="1" dirty="0">
                <a:solidFill>
                  <a:schemeClr val="accent1"/>
                </a:solidFill>
              </a:rPr>
              <a:t>Patients Table</a:t>
            </a:r>
            <a:r>
              <a:rPr lang="en-US" b="1" dirty="0"/>
              <a:t>: </a:t>
            </a:r>
            <a:r>
              <a:rPr lang="en-US" b="1" dirty="0">
                <a:solidFill>
                  <a:schemeClr val="tx1"/>
                </a:solidFill>
              </a:rPr>
              <a:t>Core demographic and medical history data.</a:t>
            </a:r>
            <a:endParaRPr sz="2700" dirty="0">
              <a:solidFill>
                <a:schemeClr val="tx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8" name="Google Shape;341;p19">
            <a:extLst>
              <a:ext uri="{FF2B5EF4-FFF2-40B4-BE49-F238E27FC236}">
                <a16:creationId xmlns:a16="http://schemas.microsoft.com/office/drawing/2014/main" id="{A3F56D90-7B08-E565-7BDB-6CEF8032E78B}"/>
              </a:ext>
            </a:extLst>
          </p:cNvPr>
          <p:cNvSpPr txBox="1"/>
          <p:nvPr/>
        </p:nvSpPr>
        <p:spPr>
          <a:xfrm flipH="1">
            <a:off x="1255074" y="2158603"/>
            <a:ext cx="310109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IN" b="1" dirty="0">
                <a:solidFill>
                  <a:schemeClr val="accent1"/>
                </a:solidFill>
              </a:rPr>
              <a:t>Doctors Table</a:t>
            </a:r>
            <a:r>
              <a:rPr lang="en-IN" b="1" dirty="0"/>
              <a:t>:</a:t>
            </a:r>
            <a:r>
              <a:rPr lang="en-IN" dirty="0"/>
              <a:t> </a:t>
            </a:r>
            <a:r>
              <a:rPr lang="en-IN" dirty="0">
                <a:solidFill>
                  <a:schemeClr val="tx1"/>
                </a:solidFill>
              </a:rPr>
              <a:t>Information on specializations and expertise.</a:t>
            </a:r>
            <a:endParaRPr sz="2700" dirty="0">
              <a:solidFill>
                <a:schemeClr val="tx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9" name="Google Shape;341;p19">
            <a:extLst>
              <a:ext uri="{FF2B5EF4-FFF2-40B4-BE49-F238E27FC236}">
                <a16:creationId xmlns:a16="http://schemas.microsoft.com/office/drawing/2014/main" id="{D89360F5-5E9C-9145-872B-F1C26AD629F6}"/>
              </a:ext>
            </a:extLst>
          </p:cNvPr>
          <p:cNvSpPr txBox="1"/>
          <p:nvPr/>
        </p:nvSpPr>
        <p:spPr>
          <a:xfrm flipH="1">
            <a:off x="1392382" y="3077441"/>
            <a:ext cx="3769591" cy="561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IN" sz="1200" b="1" dirty="0">
                <a:solidFill>
                  <a:schemeClr val="accent1"/>
                </a:solidFill>
              </a:rPr>
              <a:t>Appointments &amp; Diagnoses &amp; Medications</a:t>
            </a:r>
          </a:p>
          <a:p>
            <a:pPr lvl="0" algn="ctr"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Tracking patient visits and medical conditions</a:t>
            </a:r>
            <a:endParaRPr sz="2700" dirty="0">
              <a:solidFill>
                <a:schemeClr val="tx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2093FC-0271-9143-0F3C-49DED1EBE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6437" y="792324"/>
            <a:ext cx="3652236" cy="309079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5E8C161-C090-654A-E5C8-EAADD8EDCC86}"/>
              </a:ext>
            </a:extLst>
          </p:cNvPr>
          <p:cNvSpPr txBox="1"/>
          <p:nvPr/>
        </p:nvSpPr>
        <p:spPr>
          <a:xfrm>
            <a:off x="1804154" y="4093570"/>
            <a:ext cx="67156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/>
                </a:solidFill>
              </a:rPr>
              <a:t>Integrity</a:t>
            </a:r>
            <a:r>
              <a:rPr lang="en-IN" b="1" dirty="0"/>
              <a:t>:</a:t>
            </a:r>
            <a:r>
              <a:rPr lang="en-IN" dirty="0"/>
              <a:t> </a:t>
            </a:r>
            <a:r>
              <a:rPr lang="en-IN" dirty="0">
                <a:solidFill>
                  <a:schemeClr val="tx1"/>
                </a:solidFill>
              </a:rPr>
              <a:t>Verified through Primary Keys and Foreign Keys to ensure data consistency across the schema.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0"/>
          <p:cNvSpPr txBox="1">
            <a:spLocks noGrp="1"/>
          </p:cNvSpPr>
          <p:nvPr>
            <p:ph type="title"/>
          </p:nvPr>
        </p:nvSpPr>
        <p:spPr>
          <a:xfrm>
            <a:off x="1595005" y="-5203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3600" dirty="0"/>
              <a:t>1. Patient Appointments Analytics</a:t>
            </a:r>
            <a:endParaRPr sz="3600" dirty="0">
              <a:latin typeface="Arial Unicode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934161-AAEF-7683-9C5B-6DC0133B7BE7}"/>
              </a:ext>
            </a:extLst>
          </p:cNvPr>
          <p:cNvSpPr txBox="1"/>
          <p:nvPr/>
        </p:nvSpPr>
        <p:spPr>
          <a:xfrm>
            <a:off x="227915" y="3332458"/>
            <a:ext cx="8361370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chemeClr val="accent1"/>
                </a:solidFill>
                <a:latin typeface="+mn-lt"/>
              </a:rPr>
              <a:t>Insights: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300" b="1" u="sng" dirty="0">
                <a:solidFill>
                  <a:schemeClr val="tx1"/>
                </a:solidFill>
                <a:latin typeface="+mn-lt"/>
              </a:rPr>
              <a:t>Data Mapping</a:t>
            </a:r>
            <a:r>
              <a:rPr lang="en-US" sz="1300" b="1" dirty="0">
                <a:solidFill>
                  <a:schemeClr val="tx1"/>
                </a:solidFill>
                <a:latin typeface="+mn-lt"/>
              </a:rPr>
              <a:t>:</a:t>
            </a:r>
            <a:r>
              <a:rPr lang="en-US" sz="1300" dirty="0">
                <a:solidFill>
                  <a:schemeClr val="tx1"/>
                </a:solidFill>
                <a:latin typeface="+mn-lt"/>
              </a:rPr>
              <a:t> The result successfully maps specific patients and their medical departments.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300" b="1" u="sng" dirty="0">
                <a:solidFill>
                  <a:schemeClr val="tx1"/>
                </a:solidFill>
                <a:latin typeface="+mn-lt"/>
              </a:rPr>
              <a:t>Specialization Trends</a:t>
            </a:r>
            <a:r>
              <a:rPr lang="en-US" sz="1300" b="1" dirty="0">
                <a:solidFill>
                  <a:schemeClr val="tx1"/>
                </a:solidFill>
                <a:latin typeface="+mn-lt"/>
              </a:rPr>
              <a:t>:</a:t>
            </a:r>
            <a:r>
              <a:rPr lang="en-US" sz="1300" dirty="0">
                <a:solidFill>
                  <a:schemeClr val="tx1"/>
                </a:solidFill>
                <a:latin typeface="+mn-lt"/>
              </a:rPr>
              <a:t> High appointment volumes are observed in departments like </a:t>
            </a:r>
            <a:r>
              <a:rPr lang="en-US" sz="1300" b="1" dirty="0">
                <a:solidFill>
                  <a:schemeClr val="tx1"/>
                </a:solidFill>
                <a:latin typeface="+mn-lt"/>
              </a:rPr>
              <a:t>Cardiology, Neurology, and General Medicine</a:t>
            </a:r>
            <a:r>
              <a:rPr lang="en-US" sz="1300" dirty="0">
                <a:solidFill>
                  <a:schemeClr val="tx1"/>
                </a:solidFill>
                <a:latin typeface="+mn-lt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300" b="1" u="sng" dirty="0">
                <a:solidFill>
                  <a:schemeClr val="tx1"/>
                </a:solidFill>
                <a:latin typeface="+mn-lt"/>
              </a:rPr>
              <a:t>System Accuracy</a:t>
            </a:r>
            <a:r>
              <a:rPr lang="en-US" sz="1300" b="1" dirty="0">
                <a:solidFill>
                  <a:schemeClr val="tx1"/>
                </a:solidFill>
                <a:latin typeface="+mn-lt"/>
              </a:rPr>
              <a:t>:</a:t>
            </a:r>
            <a:r>
              <a:rPr lang="en-US" sz="1300" dirty="0">
                <a:solidFill>
                  <a:schemeClr val="tx1"/>
                </a:solidFill>
                <a:latin typeface="+mn-lt"/>
              </a:rPr>
              <a:t> The clean output grid confirms that the database maintains high data integrity with no orphaned appointment records.</a:t>
            </a:r>
          </a:p>
          <a:p>
            <a:endParaRPr lang="en-IN" sz="1300" dirty="0">
              <a:latin typeface="+mn-lt"/>
            </a:endParaRPr>
          </a:p>
        </p:txBody>
      </p:sp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9D4783F5-3A53-15C4-3B20-4AA97B8FF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2272" y="758283"/>
            <a:ext cx="4013813" cy="2661426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7C722BC4-7714-D3FE-C8B5-6091AA0D9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15" y="540682"/>
            <a:ext cx="4412665" cy="1492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lt"/>
              </a:rPr>
              <a:t>Objective: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n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To retrieve comprehensive details of all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completed appointments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by integrating data from multiple sources.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To link patient demographics with clinical staff specializations for operational reporting.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6295659-BBEB-799F-ED43-958D63A02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15" y="1771788"/>
            <a:ext cx="4344085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lt"/>
              </a:rPr>
              <a:t>Technical Concept: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n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300" b="1" i="0" u="sng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+mn-lt"/>
              </a:rPr>
              <a:t>Inner Join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Utilized to fetch only the matching records where both a patient and a corresponding appointment exist.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300" b="1" i="0" u="sng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+mn-lt"/>
              </a:rPr>
              <a:t>Equi Join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Implemented to establish a direct relationship between Patient ID and Doctor ID across tables.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>
          <a:extLst>
            <a:ext uri="{FF2B5EF4-FFF2-40B4-BE49-F238E27FC236}">
              <a16:creationId xmlns:a16="http://schemas.microsoft.com/office/drawing/2014/main" id="{ACB63658-8B18-A8D1-EF34-24FA76204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0">
            <a:extLst>
              <a:ext uri="{FF2B5EF4-FFF2-40B4-BE49-F238E27FC236}">
                <a16:creationId xmlns:a16="http://schemas.microsoft.com/office/drawing/2014/main" id="{F50606B5-DEA3-C712-3ADC-05B6804158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5633" y="-1196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sz="2800" dirty="0"/>
              <a:t>2. UNREGISTERED PATIENT DISCOVERY</a:t>
            </a:r>
            <a:endParaRPr sz="2800" dirty="0">
              <a:latin typeface="Arial Unicode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DFA70C-EA53-2578-BEFA-7A03A6D1CB5B}"/>
              </a:ext>
            </a:extLst>
          </p:cNvPr>
          <p:cNvSpPr txBox="1"/>
          <p:nvPr/>
        </p:nvSpPr>
        <p:spPr>
          <a:xfrm>
            <a:off x="227915" y="3176341"/>
            <a:ext cx="868817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chemeClr val="accent1"/>
                </a:solidFill>
                <a:latin typeface="+mn-lt"/>
              </a:rPr>
              <a:t>Insights: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Outreach Potential: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The result identifies specific individuals (e.g., Patient_11, Patient_22) who represent a "Lost Lead" or "Inactive Patient" category.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Data Privacy &amp; Marketing: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By having direct access to their contact numbers and addresses, the hospital can initiate targeted check-up reminders or promotional health camp notifications.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Database Maintenance: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This list helps in cleaning the database by identifying records that may have been created accidentally or remain unused for long periods.</a:t>
            </a:r>
          </a:p>
          <a:p>
            <a:endParaRPr lang="en-IN" sz="1300" dirty="0">
              <a:latin typeface="+mn-lt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81E122E-6D39-BC40-BB3F-0657EF744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15" y="605696"/>
            <a:ext cx="4886778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lt"/>
              </a:rPr>
              <a:t>Objective: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n-lt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To extract their contact and address details for hospital outreach or follow-up programs.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To identify patients who have registered in the database but have </a:t>
            </a: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never had an appointment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recorded.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FC32B9ED-FC89-651B-75A2-E536224C7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14" y="1688194"/>
            <a:ext cx="4886777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lt"/>
              </a:rPr>
              <a:t>Technical Concept: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n-lt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Left Join: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Used to combine the Patients and Appointments tables, ensuring all patients are listed regardless of whether they have a matching appointment.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IS NULL Filtering: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Specifically applied to filter out patients where the Appointment ID is missing, effectively isolating those with zero visits.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11" name="Picture 10" descr="A screenshot of a computer">
            <a:extLst>
              <a:ext uri="{FF2B5EF4-FFF2-40B4-BE49-F238E27FC236}">
                <a16:creationId xmlns:a16="http://schemas.microsoft.com/office/drawing/2014/main" id="{96DC86F7-75D5-40E1-10EE-A65AAB83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989" y="621861"/>
            <a:ext cx="3316544" cy="2714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657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>
          <a:extLst>
            <a:ext uri="{FF2B5EF4-FFF2-40B4-BE49-F238E27FC236}">
              <a16:creationId xmlns:a16="http://schemas.microsoft.com/office/drawing/2014/main" id="{13E03AF4-00E0-D4FF-7673-407E4A851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0">
            <a:extLst>
              <a:ext uri="{FF2B5EF4-FFF2-40B4-BE49-F238E27FC236}">
                <a16:creationId xmlns:a16="http://schemas.microsoft.com/office/drawing/2014/main" id="{1A255618-AD6F-98F0-D28B-D3AC1B6B30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95005" y="-5203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3600" dirty="0"/>
              <a:t>3. DOCTOR DIAGNOSTIC PERFORMANCE</a:t>
            </a:r>
            <a:endParaRPr sz="3600" dirty="0">
              <a:latin typeface="Arial Unicode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8E2752-5996-A5C5-241A-AED178D458FD}"/>
              </a:ext>
            </a:extLst>
          </p:cNvPr>
          <p:cNvSpPr txBox="1"/>
          <p:nvPr/>
        </p:nvSpPr>
        <p:spPr>
          <a:xfrm>
            <a:off x="175876" y="3035091"/>
            <a:ext cx="896812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chemeClr val="accent1"/>
                </a:solidFill>
                <a:latin typeface="+mn-lt"/>
              </a:rPr>
              <a:t>Insights: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High-Volume Performers: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Doctors like </a:t>
            </a: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Doctor_4 (Pediatrics)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and </a:t>
            </a: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Doctor_3 (Cardiology)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show the highest diagnostic activity with </a:t>
            </a: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60 and 59 diagnoses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respectively, indicating high patient turnover in these departments.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Balanced Workload: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Most specialists (Orthopedics, Pediatrics, Cardiology) maintain a consistent volume between </a:t>
            </a: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46 to 60 diagnoses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, showing a well-distributed clinical workload across the hospital.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Departmental Efficiency: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The data confirms that </a:t>
            </a: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Pediatrics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and </a:t>
            </a: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Cardiology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are currently the most active departments, which helps management in allocating more nursing staff or equipment to these areas.</a:t>
            </a:r>
          </a:p>
          <a:p>
            <a:endParaRPr lang="en-IN" sz="1300" dirty="0">
              <a:latin typeface="+mn-lt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4A4F9A5-02C2-528A-E929-CC7E1A2DD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15" y="655317"/>
            <a:ext cx="4819870" cy="130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lt"/>
              </a:rPr>
              <a:t>Objective: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n-lt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To measure clinical activity by counting the total number of diagnoses provided by each doctor.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To ensure a complete performance audit by listing all doctors, regardless of their current diagnosis volume.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A77C3681-20A0-7D21-3FBC-DEB4BCB69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15" y="1732022"/>
            <a:ext cx="4756010" cy="1492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lt"/>
              </a:rPr>
              <a:t>Technical Concept: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n-lt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Right Join: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Applied to ensure all records from the Doctors table are included, even if they have no corresponding entries in the Diagnoses table.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Aggregate COUNT():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Used to summarize diagnostic data per physician for productivity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12" name="Picture 11" descr="A screenshot of a data">
            <a:extLst>
              <a:ext uri="{FF2B5EF4-FFF2-40B4-BE49-F238E27FC236}">
                <a16:creationId xmlns:a16="http://schemas.microsoft.com/office/drawing/2014/main" id="{25F5626C-4A66-61C1-82FF-86203552F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924" y="633015"/>
            <a:ext cx="3553321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7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>
          <a:extLst>
            <a:ext uri="{FF2B5EF4-FFF2-40B4-BE49-F238E27FC236}">
              <a16:creationId xmlns:a16="http://schemas.microsoft.com/office/drawing/2014/main" id="{0A622110-C323-E66A-D3ED-4326ED871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0">
            <a:extLst>
              <a:ext uri="{FF2B5EF4-FFF2-40B4-BE49-F238E27FC236}">
                <a16:creationId xmlns:a16="http://schemas.microsoft.com/office/drawing/2014/main" id="{AB9FDF79-47B0-5B04-A48E-745B72289E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273" y="-5203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3600" dirty="0"/>
              <a:t>4. CROSS-DEPARTMENTAL RELATIONSHIP MAPPING</a:t>
            </a:r>
            <a:endParaRPr sz="3600" dirty="0">
              <a:latin typeface="Arial Unicode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D90F8C-79E2-05A7-FA96-0592640E2015}"/>
              </a:ext>
            </a:extLst>
          </p:cNvPr>
          <p:cNvSpPr txBox="1"/>
          <p:nvPr/>
        </p:nvSpPr>
        <p:spPr>
          <a:xfrm>
            <a:off x="198838" y="3389536"/>
            <a:ext cx="884174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chemeClr val="accent1"/>
                </a:solidFill>
                <a:latin typeface="+mn-lt"/>
              </a:rPr>
              <a:t>Insights: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Clinical Documentation Gap: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The result grid shows multiple appointments (e.g., ID 25, 525, 527) for </a:t>
            </a: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Doctor_1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where the diagnosis_id is </a:t>
            </a: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NULL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. This indicates a significant gap in clinical documentation.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Operational Follow-up: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These "NULL" records flag patients who attended an appointment but do not have a recorded diagnosis or treatment plan in the system yet.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Physician Accountability: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Specifically, </a:t>
            </a: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Doctor_1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has several pending diagnostic entries. Management can use this data to request the physician to update pending medical records for better patient care continuity.</a:t>
            </a:r>
          </a:p>
          <a:p>
            <a:endParaRPr lang="en-IN" sz="1300" dirty="0">
              <a:latin typeface="+mn-lt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15D30C9-C9E7-C3C0-319B-158EAFC80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15" y="479127"/>
            <a:ext cx="4738095" cy="1492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lt"/>
              </a:rPr>
              <a:t>Objective: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n-lt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To perform a comprehensive audit of the relationship between patients and their clinical records.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To ensure every record is accounted for, specifically identifying appointments that lack an associated diagnosis.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E45C9C84-8600-9573-C9B9-746C35A1C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15" y="1692243"/>
            <a:ext cx="4515070" cy="1892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lt"/>
              </a:rPr>
              <a:t>Technical Concept: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n-lt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Full Outer Join: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This operation is designed to combine the results of both Left and Right joins to show a "Complete Picture" of the database relationships.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Data Integrity Audit: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By joining Appointments with Diagnoses, we can pinpoint missing links in the patient treatment cycle.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145CB80-46A0-8BBC-665F-82251F32C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710" y="743905"/>
            <a:ext cx="4296375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110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>
          <a:extLst>
            <a:ext uri="{FF2B5EF4-FFF2-40B4-BE49-F238E27FC236}">
              <a16:creationId xmlns:a16="http://schemas.microsoft.com/office/drawing/2014/main" id="{76F93252-E1C0-E103-488B-E57B639F8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0">
            <a:extLst>
              <a:ext uri="{FF2B5EF4-FFF2-40B4-BE49-F238E27FC236}">
                <a16:creationId xmlns:a16="http://schemas.microsoft.com/office/drawing/2014/main" id="{A44236E9-3908-0679-E957-431B36FDEF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50272" y="-4711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sz="3600" dirty="0"/>
              <a:t>5. PATIENT VISIT RANKING</a:t>
            </a:r>
            <a:endParaRPr sz="3600" dirty="0">
              <a:latin typeface="Arial Unicode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4EE95D-3794-DA07-7078-B4FAC1B743EB}"/>
              </a:ext>
            </a:extLst>
          </p:cNvPr>
          <p:cNvSpPr txBox="1"/>
          <p:nvPr/>
        </p:nvSpPr>
        <p:spPr>
          <a:xfrm>
            <a:off x="227914" y="3369628"/>
            <a:ext cx="8916085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chemeClr val="accent1"/>
                </a:solidFill>
                <a:latin typeface="+mn-lt"/>
              </a:rPr>
              <a:t>Insights: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Patient Frequency Analysis: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The result grid shows that for </a:t>
            </a: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Doctor_1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, multiple patients (e.g., Patient_4920, Patient_3910) share </a:t>
            </a: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Rank 1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with 1 appointment each. In a larger dataset, this helps identify the most frequent visitors for prioritized scheduling.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Continuity of Care: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By identifying "Rank 1" patients, the hospital can flag individuals who consistently see the same specialist, which is a key indicator of patient trust and effective treatment outcomes.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Administrative Load: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Doctors with a high volume of "Rank 1" patients (with high visit counts) can be assigned additional clinical support to manage their recurring patient load efficiently.</a:t>
            </a:r>
          </a:p>
          <a:p>
            <a:endParaRPr lang="en-IN" sz="1300" dirty="0">
              <a:latin typeface="+mn-lt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8924854-A515-CBBD-FFEF-191BE2978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15" y="540682"/>
            <a:ext cx="4412665" cy="1492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lt"/>
              </a:rPr>
              <a:t>Objective: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n-lt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To assign a priority rank to patients based on their total number of appointments with each specific doctor.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To identify high-frequency visitors who may require long-term chronic care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5A3829E9-1F41-572F-A1CA-899FC928C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15" y="1731233"/>
            <a:ext cx="4344085" cy="1892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lt"/>
              </a:rPr>
              <a:t>Technical Concept: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n-lt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Window Function (DENSE_RANK):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Implemented to rank patients without gaps in the ranking sequence, ensuring that patients with the same visit count receive the same rank.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PARTITION BY Clause: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Used to reset the ranking logic for each Doctor ID, allowing for a localized analysis of patient loyalty per physician.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86EA4340-B029-5BF2-F19D-EF29CDF78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663690"/>
            <a:ext cx="4451288" cy="241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129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>
          <a:extLst>
            <a:ext uri="{FF2B5EF4-FFF2-40B4-BE49-F238E27FC236}">
              <a16:creationId xmlns:a16="http://schemas.microsoft.com/office/drawing/2014/main" id="{65756732-6E81-1E2E-D4FF-A8FF6576C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0">
            <a:extLst>
              <a:ext uri="{FF2B5EF4-FFF2-40B4-BE49-F238E27FC236}">
                <a16:creationId xmlns:a16="http://schemas.microsoft.com/office/drawing/2014/main" id="{C1774F8D-65C1-E1B4-9F65-1639004D92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95005" y="-5203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3600" dirty="0"/>
              <a:t>6. PATIENT DEMOGRAPHIC SEGMENTATION</a:t>
            </a:r>
            <a:endParaRPr sz="3600" dirty="0">
              <a:latin typeface="Arial Unicode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BE0AC1-15E2-63FA-4B40-87ECBF0E3578}"/>
              </a:ext>
            </a:extLst>
          </p:cNvPr>
          <p:cNvSpPr txBox="1"/>
          <p:nvPr/>
        </p:nvSpPr>
        <p:spPr>
          <a:xfrm>
            <a:off x="227914" y="3149017"/>
            <a:ext cx="882687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chemeClr val="accent1"/>
                </a:solidFill>
                <a:latin typeface="+mn-lt"/>
              </a:rPr>
              <a:t>Insights: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u="sng" dirty="0">
                <a:solidFill>
                  <a:schemeClr val="tx1"/>
                </a:solidFill>
                <a:latin typeface="+mn-lt"/>
              </a:rPr>
              <a:t>Dominant Senior Population</a:t>
            </a: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The </a:t>
            </a: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51+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age group is the largest segment with </a:t>
            </a: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2,684 patients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, indicating a high demand for geriatric care, chronic disease management, and specialized screenings.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u="sng" dirty="0">
                <a:solidFill>
                  <a:schemeClr val="tx1"/>
                </a:solidFill>
                <a:latin typeface="+mn-lt"/>
              </a:rPr>
              <a:t>Secondary Market</a:t>
            </a: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The </a:t>
            </a: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31-50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age group follows with </a:t>
            </a: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1,416 patients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, representing the working-class demographic that may require preventive health packages or occupational therapy.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u="sng" dirty="0">
                <a:solidFill>
                  <a:schemeClr val="tx1"/>
                </a:solidFill>
                <a:latin typeface="+mn-lt"/>
              </a:rPr>
              <a:t>Targeted Health Programs</a:t>
            </a: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With only </a:t>
            </a: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900 patients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in the </a:t>
            </a: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18-30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group, the hospital can launch awareness campaigns or "Young Adult" wellness programs to increase registration and engagement in this demographic.</a:t>
            </a:r>
          </a:p>
          <a:p>
            <a:endParaRPr lang="en-IN" sz="1300" dirty="0">
              <a:latin typeface="+mn-lt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5509D10-79B4-05D6-0262-063964493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15" y="639146"/>
            <a:ext cx="5692955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lt"/>
              </a:rPr>
              <a:t>Objective: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n-lt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To categorize the patient database into specific age groups (18-30, 31-50, and 51+) for better clinical trend analysis.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To provide the hospital management with a clear distribution of the patient population.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6F3FA58A-F204-C5BE-6C76-7CE7869E7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15" y="1687151"/>
            <a:ext cx="5838348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lt"/>
              </a:rPr>
              <a:t>Technical Concept: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n-lt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Conditional Logic (CASE Statement):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Used to evaluate the age column and assign a descriptive label based on predefined numerical ranges.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Grouping &amp; Aggregation: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Combined the CASE logic with COUNT(*) and GROUP BY to summarize the total volume of patients in each segment.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92475B4E-8482-8517-6E90-5F1453EBA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870" y="756124"/>
            <a:ext cx="2995215" cy="177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201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>
          <a:extLst>
            <a:ext uri="{FF2B5EF4-FFF2-40B4-BE49-F238E27FC236}">
              <a16:creationId xmlns:a16="http://schemas.microsoft.com/office/drawing/2014/main" id="{6C80144A-42A3-4880-7346-706EB6CC6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0">
            <a:extLst>
              <a:ext uri="{FF2B5EF4-FFF2-40B4-BE49-F238E27FC236}">
                <a16:creationId xmlns:a16="http://schemas.microsoft.com/office/drawing/2014/main" id="{08B696F3-A39B-A92C-6E64-0F9E97F37D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95005" y="-5203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3600" dirty="0"/>
              <a:t>7. ADVANCED DATA STANDARDIZATION</a:t>
            </a:r>
            <a:endParaRPr sz="3600" dirty="0">
              <a:latin typeface="Arial Unicode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5FF9FD-47FA-7592-13F4-023ACF3A5AC6}"/>
              </a:ext>
            </a:extLst>
          </p:cNvPr>
          <p:cNvSpPr txBox="1"/>
          <p:nvPr/>
        </p:nvSpPr>
        <p:spPr>
          <a:xfrm>
            <a:off x="227914" y="3149017"/>
            <a:ext cx="882687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chemeClr val="accent1"/>
                </a:solidFill>
                <a:latin typeface="+mn-lt"/>
              </a:rPr>
              <a:t>Insights: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Data Uniformity: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By transforming "Patient_1234" to </a:t>
            </a: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"PATIENT_1234"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, the system ensures that search results and medical IDs are professional and easy to read across all hospital departments.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Targeted Search Efficiency: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The ability to filter by contact number patterns is crucial for resolving duplicate records or finding specific patient groups when names are unknown but partial contact details are available.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Reporting Readiness: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Standardized data prevents errors in automated reporting tools, ensuring that clinical audits have 100% accurate and consistent naming formats.</a:t>
            </a:r>
          </a:p>
          <a:p>
            <a:endParaRPr lang="en-IN" sz="1300" dirty="0">
              <a:latin typeface="+mn-lt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966FA67-6B1E-A89B-A143-C609860C6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16" y="583925"/>
            <a:ext cx="5607890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lt"/>
              </a:rPr>
              <a:t>Objective: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n-lt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To standardize patient naming conventions for uniform reporting and clinical documentation.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To extract specific contact records based on numerical patterns for targeted verification.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5D4D748-E225-4594-0645-D4DB47F12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14" y="1666417"/>
            <a:ext cx="5607889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lt"/>
              </a:rPr>
              <a:t>Technical Concept: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n-lt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String Transformation (UPPER):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Applied to the </a:t>
            </a:r>
            <a:r>
              <a:rPr lang="en-US" altLang="en-US" sz="1300" dirty="0" err="1">
                <a:solidFill>
                  <a:schemeClr val="tx1"/>
                </a:solidFill>
                <a:latin typeface="+mn-lt"/>
              </a:rPr>
              <a:t>patient_name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column to ensure all records are displayed in uppercase, eliminating inconsistencies caused by manual data entry.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Pattern Matching (LIKE):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Utilized the %1234 wildcard pattern to filter patients whose contact numbers end with specific digits, demonstrating precise data retrieval capabilities.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6143C2C3-66AC-71E4-248D-6FD9CE857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165" y="1348151"/>
            <a:ext cx="2894920" cy="1292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665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>
          <a:extLst>
            <a:ext uri="{FF2B5EF4-FFF2-40B4-BE49-F238E27FC236}">
              <a16:creationId xmlns:a16="http://schemas.microsoft.com/office/drawing/2014/main" id="{65D567BD-38EB-1807-09D1-3F019D27F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0">
            <a:extLst>
              <a:ext uri="{FF2B5EF4-FFF2-40B4-BE49-F238E27FC236}">
                <a16:creationId xmlns:a16="http://schemas.microsoft.com/office/drawing/2014/main" id="{433BAB1A-BCE3-0BDA-6B01-6D78A0C374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95005" y="-5203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3600" dirty="0"/>
              <a:t>8. SPECIALIZED MEDICATION FILTERING</a:t>
            </a:r>
            <a:endParaRPr sz="3600" dirty="0">
              <a:latin typeface="Arial Unicode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AFBB67-CCBD-EE98-FD68-A3AA8FB49558}"/>
              </a:ext>
            </a:extLst>
          </p:cNvPr>
          <p:cNvSpPr txBox="1"/>
          <p:nvPr/>
        </p:nvSpPr>
        <p:spPr>
          <a:xfrm>
            <a:off x="227914" y="3149017"/>
            <a:ext cx="882687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chemeClr val="accent1"/>
                </a:solidFill>
                <a:latin typeface="+mn-lt"/>
              </a:rPr>
              <a:t>Insights: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Diabetic Cohort Identification: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The result successfully identifies a specific group (e.g., Patient_55, Patient_56, Patient_77) that requires specialized diabetic monitoring and insulin supplies.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Pharmacy Stock Optimization: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By knowing the exact number of patients on Insulin, the hospital pharmacy can optimize its inventory levels to ensure no stock-outs for this life-saving medication.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Targeted Clinical Trials: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This list provides a ready-made database for doctors looking to enroll patients in new diabetic research programs or specialized dietary workshops.</a:t>
            </a:r>
          </a:p>
          <a:p>
            <a:endParaRPr lang="en-IN" sz="1300" dirty="0">
              <a:latin typeface="+mn-lt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86216FE-7D10-74AF-11A1-99EE0A055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15" y="639146"/>
            <a:ext cx="6276963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lt"/>
              </a:rPr>
              <a:t>Objective: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n-lt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To isolate a specific cohort of patients who have been prescribed </a:t>
            </a: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"Insulin"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for targeted diabetic care management.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To demonstrate the use of nested queries to filter data based on clinical records from the Medications 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AB3EA83-EEFD-7549-9B5F-EA18BB476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14" y="1687151"/>
            <a:ext cx="6276963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lt"/>
              </a:rPr>
              <a:t>Technical Concept: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n-lt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Subquery (IN Clause):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Implemented a subquery to first identify all Patient IDs associated with "Insulin" in the medications table, then used the outer query to fetch their full profile.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Relational Filtering: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This approach efficiently connects demographic data with specific treatment history without requiring a complex multi-table join for simple filtering.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BE23C29A-C2F7-8F34-391C-7952F6AE6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125" y="768643"/>
            <a:ext cx="2333960" cy="213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020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>
          <a:extLst>
            <a:ext uri="{FF2B5EF4-FFF2-40B4-BE49-F238E27FC236}">
              <a16:creationId xmlns:a16="http://schemas.microsoft.com/office/drawing/2014/main" id="{831C7E8F-CDBA-FC9A-04F5-A301F5099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0">
            <a:extLst>
              <a:ext uri="{FF2B5EF4-FFF2-40B4-BE49-F238E27FC236}">
                <a16:creationId xmlns:a16="http://schemas.microsoft.com/office/drawing/2014/main" id="{70743A15-4E58-7780-7034-99F0904AFD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95005" y="-5203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3600" dirty="0"/>
              <a:t>9. MEDICATION DURATION ANALYSIS</a:t>
            </a:r>
            <a:endParaRPr sz="3600" dirty="0">
              <a:latin typeface="Arial Unicode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2111C2-B6CC-9CFE-7823-8A76038F5011}"/>
              </a:ext>
            </a:extLst>
          </p:cNvPr>
          <p:cNvSpPr txBox="1"/>
          <p:nvPr/>
        </p:nvSpPr>
        <p:spPr>
          <a:xfrm>
            <a:off x="227914" y="3074674"/>
            <a:ext cx="882687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chemeClr val="accent1"/>
                </a:solidFill>
                <a:latin typeface="+mn-lt"/>
              </a:rPr>
              <a:t>Insights: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Long-Term Care Trends: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Migraine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treatments show the highest average duration of </a:t>
            </a: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10.3 days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, suggesting that these patients require more extended pharmaceutical support compared to other conditions.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Chronic vs. Acute: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Conditions like </a:t>
            </a: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Diabetes (6.1 days)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and </a:t>
            </a: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Hypertension (3.8 days)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show consistent treatment windows, assisting the pharmacy in predictable stock replenishment.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Data Quality Observation: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The result for </a:t>
            </a: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Flu (-7.1 days)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indicates a potential data entry anomaly where the end date was recorded before the start date.</a:t>
            </a:r>
          </a:p>
          <a:p>
            <a:endParaRPr lang="en-IN" sz="1300" dirty="0">
              <a:latin typeface="+mn-lt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E9FEF16-59B2-74EA-AC1F-4B64E0C96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14" y="703453"/>
            <a:ext cx="5692955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lt"/>
              </a:rPr>
              <a:t>Objective: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n-lt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To calculate the average duration of treatment prescribed for various medical conditions.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To provide data-driven insights into recovery timelines for different diagnoses.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7B3A3B25-FC99-7BFE-6CEC-52A7396A3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15" y="1787178"/>
            <a:ext cx="5511246" cy="1492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lt"/>
              </a:rPr>
              <a:t>Technical Concept: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n-lt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Date Arithmetic (DATEDIFF):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Utilized to calculate the number of days between the </a:t>
            </a:r>
            <a:r>
              <a:rPr lang="en-US" altLang="en-US" sz="1300" dirty="0" err="1">
                <a:solidFill>
                  <a:schemeClr val="tx1"/>
                </a:solidFill>
                <a:latin typeface="+mn-lt"/>
              </a:rPr>
              <a:t>start_date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and </a:t>
            </a:r>
            <a:r>
              <a:rPr lang="en-US" altLang="en-US" sz="1300" dirty="0" err="1">
                <a:solidFill>
                  <a:schemeClr val="tx1"/>
                </a:solidFill>
                <a:latin typeface="+mn-lt"/>
              </a:rPr>
              <a:t>end_date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for each medication record.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Aggregated Averaging (AVG):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Combined with GROUP BY to determine the mean treatment length for each specific diagnosis.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3B9277C7-A662-1994-9FB5-11C872EF1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161" y="923578"/>
            <a:ext cx="3208406" cy="1927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41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>
          <a:extLst>
            <a:ext uri="{FF2B5EF4-FFF2-40B4-BE49-F238E27FC236}">
              <a16:creationId xmlns:a16="http://schemas.microsoft.com/office/drawing/2014/main" id="{FAD10F1F-18F3-5164-632C-7496B251F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0">
            <a:extLst>
              <a:ext uri="{FF2B5EF4-FFF2-40B4-BE49-F238E27FC236}">
                <a16:creationId xmlns:a16="http://schemas.microsoft.com/office/drawing/2014/main" id="{221404A6-EFD9-0669-F71C-A23DBF1433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95005" y="-5203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600" dirty="0"/>
              <a:t>10. PHYSICIAN IMPACT &amp; PATIENT REACH</a:t>
            </a:r>
            <a:endParaRPr sz="3600" dirty="0">
              <a:latin typeface="Arial Unicode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E1441E-9DD0-3668-6EA5-F26390AD849B}"/>
              </a:ext>
            </a:extLst>
          </p:cNvPr>
          <p:cNvSpPr txBox="1"/>
          <p:nvPr/>
        </p:nvSpPr>
        <p:spPr>
          <a:xfrm>
            <a:off x="227914" y="3186187"/>
            <a:ext cx="882687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chemeClr val="accent1"/>
                </a:solidFill>
                <a:latin typeface="+mn-lt"/>
              </a:rPr>
              <a:t>Insights: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Top Performer: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Doctor_37 (General Medicine)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emerged as the physician with the highest reach, attending to </a:t>
            </a: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51 unique patients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Departmental Lead: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This confirms that the </a:t>
            </a: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General Medicine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department acts as the primary entry point for the hospital, handling a diverse and large volume of individuals.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Strategic Resource Allocation: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Identifying high-reach doctors helps management understand which specialists are most critical for hospital-wide patient satisfaction and clinical reputation.</a:t>
            </a:r>
          </a:p>
          <a:p>
            <a:endParaRPr lang="en-IN" sz="1300" dirty="0">
              <a:latin typeface="+mn-lt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EF9E9DC-E99D-13AE-A8FC-20DFC33A3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15" y="657399"/>
            <a:ext cx="6299265" cy="1092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lt"/>
              </a:rPr>
              <a:t>Objective: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n-lt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To identify the doctor who has attended the highest number of </a:t>
            </a: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unique patients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To measure the clinical reach and diversity of the medical staff's patient base.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BBDF5BEE-6367-1174-FA4E-3A7B4AD25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14" y="1542520"/>
            <a:ext cx="5979597" cy="1892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lt"/>
              </a:rPr>
              <a:t>Technical Concept: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n-lt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Complex Joins: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Integrated Doctors and Appointments tables to link physician profiles with patient visits.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COUNT(DISTINCT):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Utilized this specific aggregate function to ensure that multiple visits by the same patient are only counted once, giving an accurate measure of "Unique Reach."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300" b="1" dirty="0">
                <a:solidFill>
                  <a:schemeClr val="tx1"/>
                </a:solidFill>
                <a:latin typeface="+mn-lt"/>
              </a:rPr>
              <a:t>Limit/Ranking: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 Used to isolate the top-performing physician based on the calculated patient volume.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E8F2036-302F-2A01-9D02-24B2B422B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810" y="942357"/>
            <a:ext cx="2790979" cy="1629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522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1136CA5-15C6-BE89-A1B3-57E4BAFD8E1B}"/>
              </a:ext>
            </a:extLst>
          </p:cNvPr>
          <p:cNvSpPr txBox="1"/>
          <p:nvPr/>
        </p:nvSpPr>
        <p:spPr>
          <a:xfrm>
            <a:off x="524107" y="586726"/>
            <a:ext cx="8679366" cy="3787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tx1"/>
                </a:solidFill>
              </a:rPr>
              <a:t>Summary of Clinical Insights:</a:t>
            </a:r>
          </a:p>
          <a:p>
            <a:pPr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300" b="1" dirty="0">
                <a:solidFill>
                  <a:schemeClr val="tx1"/>
                </a:solidFill>
              </a:rPr>
              <a:t>Operational Gaps:</a:t>
            </a:r>
            <a:r>
              <a:rPr lang="en-US" sz="1300" dirty="0">
                <a:solidFill>
                  <a:schemeClr val="tx1"/>
                </a:solidFill>
              </a:rPr>
              <a:t> The data audit successfully identified critical gaps in clinical documentation, specifically highlighting appointments lacking associated diagnoses.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300" b="1" dirty="0">
                <a:solidFill>
                  <a:schemeClr val="tx1"/>
                </a:solidFill>
              </a:rPr>
              <a:t>Patient Engagement:</a:t>
            </a:r>
            <a:r>
              <a:rPr lang="en-US" sz="1300" dirty="0">
                <a:solidFill>
                  <a:schemeClr val="tx1"/>
                </a:solidFill>
              </a:rPr>
              <a:t> Through the "Unregistered Patient Discovery" task, we isolated "Lost Leads"—patients who registered but never visited—providing a clear list for hospital outreach programs.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300" b="1" dirty="0">
                <a:solidFill>
                  <a:schemeClr val="tx1"/>
                </a:solidFill>
              </a:rPr>
              <a:t>Performance Excellence:</a:t>
            </a:r>
            <a:r>
              <a:rPr lang="en-US" sz="1300" dirty="0">
                <a:solidFill>
                  <a:schemeClr val="tx1"/>
                </a:solidFill>
              </a:rPr>
              <a:t> The analysis identified </a:t>
            </a:r>
            <a:r>
              <a:rPr lang="en-US" sz="1300" b="1" dirty="0">
                <a:solidFill>
                  <a:schemeClr val="tx1"/>
                </a:solidFill>
              </a:rPr>
              <a:t>Doctor_37</a:t>
            </a:r>
            <a:r>
              <a:rPr lang="en-US" sz="1300" dirty="0">
                <a:solidFill>
                  <a:schemeClr val="tx1"/>
                </a:solidFill>
              </a:rPr>
              <a:t> as the physician with the highest patient reach (51 unique patients), indicating high efficiency in the General Medicine department.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300" b="1" dirty="0">
                <a:solidFill>
                  <a:schemeClr val="tx1"/>
                </a:solidFill>
              </a:rPr>
              <a:t>Technical Achievement:</a:t>
            </a:r>
            <a:endParaRPr lang="en-US" sz="13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300" b="1" dirty="0">
                <a:solidFill>
                  <a:schemeClr val="tx1"/>
                </a:solidFill>
              </a:rPr>
              <a:t>Advanced Querying:</a:t>
            </a:r>
            <a:r>
              <a:rPr lang="en-US" sz="1300" dirty="0">
                <a:solidFill>
                  <a:schemeClr val="tx1"/>
                </a:solidFill>
              </a:rPr>
              <a:t> Successfully demonstrated the use of complex SQL tools including </a:t>
            </a:r>
            <a:r>
              <a:rPr lang="en-US" sz="1300" b="1" dirty="0">
                <a:solidFill>
                  <a:schemeClr val="tx1"/>
                </a:solidFill>
              </a:rPr>
              <a:t>DENSE_RANK()</a:t>
            </a:r>
            <a:r>
              <a:rPr lang="en-US" sz="1300" dirty="0">
                <a:solidFill>
                  <a:schemeClr val="tx1"/>
                </a:solidFill>
              </a:rPr>
              <a:t> for patient loyalty and </a:t>
            </a:r>
            <a:r>
              <a:rPr lang="en-US" sz="1300" b="1" dirty="0">
                <a:solidFill>
                  <a:schemeClr val="tx1"/>
                </a:solidFill>
              </a:rPr>
              <a:t>Subqueries</a:t>
            </a:r>
            <a:r>
              <a:rPr lang="en-US" sz="1300" dirty="0">
                <a:solidFill>
                  <a:schemeClr val="tx1"/>
                </a:solidFill>
              </a:rPr>
              <a:t> for targeted medication analysis.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300" b="1" dirty="0">
                <a:solidFill>
                  <a:schemeClr val="tx1"/>
                </a:solidFill>
              </a:rPr>
              <a:t>Data Quality Management:</a:t>
            </a:r>
            <a:r>
              <a:rPr lang="en-US" sz="1300" dirty="0">
                <a:solidFill>
                  <a:schemeClr val="tx1"/>
                </a:solidFill>
              </a:rPr>
              <a:t> Identified data entry anomalies (e.g., negative treatment durations for Flu) that highlight the need for better front-end validation rules.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9E018D-EA91-70A9-6E15-653CCB758400}"/>
              </a:ext>
            </a:extLst>
          </p:cNvPr>
          <p:cNvSpPr txBox="1"/>
          <p:nvPr/>
        </p:nvSpPr>
        <p:spPr>
          <a:xfrm>
            <a:off x="2360341" y="63506"/>
            <a:ext cx="55495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solidFill>
                  <a:schemeClr val="tx1"/>
                </a:solidFill>
                <a:latin typeface="Bebas Neue" panose="020B0606020202050201" pitchFamily="34" charset="0"/>
              </a:rPr>
              <a:t>PROJECT CONCLUSION &amp; KEY FINDINGS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>
          <a:extLst>
            <a:ext uri="{FF2B5EF4-FFF2-40B4-BE49-F238E27FC236}">
              <a16:creationId xmlns:a16="http://schemas.microsoft.com/office/drawing/2014/main" id="{51FD0046-92BD-7D84-779D-7AD7EC88A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3E2DF35-C928-C3C3-4CFF-3239C9E26481}"/>
              </a:ext>
            </a:extLst>
          </p:cNvPr>
          <p:cNvSpPr txBox="1"/>
          <p:nvPr/>
        </p:nvSpPr>
        <p:spPr>
          <a:xfrm>
            <a:off x="3036849" y="0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chemeClr val="tx1"/>
                </a:solidFill>
                <a:latin typeface="Bebas Neue" panose="020B0606020202050201" pitchFamily="34" charset="0"/>
              </a:rPr>
              <a:t>FUTURE ENHANCEMENTS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FAF8F7-7FBB-A0B2-B743-B1636A8B4A52}"/>
              </a:ext>
            </a:extLst>
          </p:cNvPr>
          <p:cNvSpPr txBox="1"/>
          <p:nvPr/>
        </p:nvSpPr>
        <p:spPr>
          <a:xfrm>
            <a:off x="788019" y="813259"/>
            <a:ext cx="7932235" cy="275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300" dirty="0">
                <a:solidFill>
                  <a:schemeClr val="tx1"/>
                </a:solidFill>
              </a:rPr>
              <a:t>To further evolve this Hospital Management System, the following steps are proposed: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300" b="1" dirty="0">
                <a:solidFill>
                  <a:schemeClr val="tx1"/>
                </a:solidFill>
              </a:rPr>
              <a:t>Predictive Analytics:</a:t>
            </a:r>
            <a:r>
              <a:rPr lang="en-US" sz="1300" dirty="0">
                <a:solidFill>
                  <a:schemeClr val="tx1"/>
                </a:solidFill>
              </a:rPr>
              <a:t> Integrating Machine Learning models to predict patient "No-Show" rates based on historical appointment patterns.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300" b="1" dirty="0">
                <a:solidFill>
                  <a:schemeClr val="tx1"/>
                </a:solidFill>
              </a:rPr>
              <a:t>Automated Dashboards:</a:t>
            </a:r>
            <a:r>
              <a:rPr lang="en-US" sz="1300" dirty="0">
                <a:solidFill>
                  <a:schemeClr val="tx1"/>
                </a:solidFill>
              </a:rPr>
              <a:t> Connecting the SQL database to </a:t>
            </a:r>
            <a:r>
              <a:rPr lang="en-US" sz="1300" b="1" dirty="0">
                <a:solidFill>
                  <a:schemeClr val="tx1"/>
                </a:solidFill>
              </a:rPr>
              <a:t>Power BI or Tableau</a:t>
            </a:r>
            <a:r>
              <a:rPr lang="en-US" sz="1300" dirty="0">
                <a:solidFill>
                  <a:schemeClr val="tx1"/>
                </a:solidFill>
              </a:rPr>
              <a:t> to create real-time visualizations for hospital administrators to track doctor workload instantly.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300" b="1" dirty="0">
                <a:solidFill>
                  <a:schemeClr val="tx1"/>
                </a:solidFill>
              </a:rPr>
              <a:t>Patient Portal Integration:</a:t>
            </a:r>
            <a:r>
              <a:rPr lang="en-US" sz="1300" dirty="0">
                <a:solidFill>
                  <a:schemeClr val="tx1"/>
                </a:solidFill>
              </a:rPr>
              <a:t> Expanding the database to support a patient-facing portal where individuals can view their standardized medication history and diagnoses.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300" b="1" dirty="0">
                <a:solidFill>
                  <a:schemeClr val="tx1"/>
                </a:solidFill>
              </a:rPr>
              <a:t>Enhanced Security:</a:t>
            </a:r>
            <a:r>
              <a:rPr lang="en-US" sz="1300" dirty="0">
                <a:solidFill>
                  <a:schemeClr val="tx1"/>
                </a:solidFill>
              </a:rPr>
              <a:t> Implementing </a:t>
            </a:r>
            <a:r>
              <a:rPr lang="en-US" sz="1300" b="1" dirty="0">
                <a:solidFill>
                  <a:schemeClr val="tx1"/>
                </a:solidFill>
              </a:rPr>
              <a:t>Role-Based Access Control (RBAC)</a:t>
            </a:r>
            <a:r>
              <a:rPr lang="en-US" sz="1300" dirty="0">
                <a:solidFill>
                  <a:schemeClr val="tx1"/>
                </a:solidFill>
              </a:rPr>
              <a:t> to ensure that sensitive patient demographics are only accessible to authorized medical staff.</a:t>
            </a:r>
          </a:p>
        </p:txBody>
      </p:sp>
    </p:spTree>
    <p:extLst>
      <p:ext uri="{BB962C8B-B14F-4D97-AF65-F5344CB8AC3E}">
        <p14:creationId xmlns:p14="http://schemas.microsoft.com/office/powerpoint/2010/main" val="3152502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>
          <a:extLst>
            <a:ext uri="{FF2B5EF4-FFF2-40B4-BE49-F238E27FC236}">
              <a16:creationId xmlns:a16="http://schemas.microsoft.com/office/drawing/2014/main" id="{B923F1FE-CD1D-F325-6CF4-9871ACC74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CB780F-2A63-6B75-C9E9-9E3BBF398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</p:spPr>
        <p:txBody>
          <a:bodyPr/>
          <a:lstStyle/>
          <a:p>
            <a:pPr algn="ctr"/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59813944"/>
      </p:ext>
    </p:extLst>
  </p:cSld>
  <p:clrMapOvr>
    <a:masterClrMapping/>
  </p:clrMapOvr>
</p:sld>
</file>

<file path=ppt/theme/theme1.xml><?xml version="1.0" encoding="utf-8"?>
<a:theme xmlns:a="http://schemas.openxmlformats.org/drawingml/2006/main" name=" Data Analysis for Business Infographics by Slidesgo">
  <a:themeElements>
    <a:clrScheme name="Simple Light">
      <a:dk1>
        <a:srgbClr val="FFFFFF"/>
      </a:dk1>
      <a:lt1>
        <a:srgbClr val="0E166C"/>
      </a:lt1>
      <a:dk2>
        <a:srgbClr val="921D87"/>
      </a:dk2>
      <a:lt2>
        <a:srgbClr val="FFB632"/>
      </a:lt2>
      <a:accent1>
        <a:srgbClr val="FFE485"/>
      </a:accent1>
      <a:accent2>
        <a:srgbClr val="BE7AF3"/>
      </a:accent2>
      <a:accent3>
        <a:srgbClr val="51127C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2224</Words>
  <Application>Microsoft Office PowerPoint</Application>
  <PresentationFormat>On-screen Show (16:9)</PresentationFormat>
  <Paragraphs>138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 Unicode MS</vt:lpstr>
      <vt:lpstr>Arimo</vt:lpstr>
      <vt:lpstr>Arial</vt:lpstr>
      <vt:lpstr>Bebas Neue</vt:lpstr>
      <vt:lpstr>Wingdings</vt:lpstr>
      <vt:lpstr>Nunito Light</vt:lpstr>
      <vt:lpstr> Data Analysis for Business Infographics by Slidesgo</vt:lpstr>
      <vt:lpstr>Healthcare Analytics  using SQL</vt:lpstr>
      <vt:lpstr>Database Architecture</vt:lpstr>
      <vt:lpstr>1. Patient Appointments Analytics</vt:lpstr>
      <vt:lpstr>2. UNREGISTERED PATIENT DISCOVERY</vt:lpstr>
      <vt:lpstr>3. DOCTOR DIAGNOSTIC PERFORMANCE</vt:lpstr>
      <vt:lpstr>4. CROSS-DEPARTMENTAL RELATIONSHIP MAPPING</vt:lpstr>
      <vt:lpstr>5. PATIENT VISIT RANKING</vt:lpstr>
      <vt:lpstr>6. PATIENT DEMOGRAPHIC SEGMENTATION</vt:lpstr>
      <vt:lpstr>7. ADVANCED DATA STANDARDIZATION</vt:lpstr>
      <vt:lpstr>8. SPECIALIZED MEDICATION FILTERING</vt:lpstr>
      <vt:lpstr>9. MEDICATION DURATION ANALYSIS</vt:lpstr>
      <vt:lpstr>10. PHYSICIAN IMPACT &amp; PATIENT REACH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Elango Nilla</dc:creator>
  <cp:lastModifiedBy>Elango Nila</cp:lastModifiedBy>
  <cp:revision>14</cp:revision>
  <dcterms:modified xsi:type="dcterms:W3CDTF">2025-12-26T11:51:00Z</dcterms:modified>
</cp:coreProperties>
</file>